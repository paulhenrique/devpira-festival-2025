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78" r:id="rId2"/>
    <p:sldId id="570" r:id="rId3"/>
    <p:sldId id="542" r:id="rId4"/>
    <p:sldId id="580" r:id="rId5"/>
    <p:sldId id="581" r:id="rId6"/>
    <p:sldId id="572" r:id="rId7"/>
    <p:sldId id="573" r:id="rId8"/>
    <p:sldId id="582" r:id="rId9"/>
    <p:sldId id="574" r:id="rId10"/>
    <p:sldId id="583" r:id="rId11"/>
    <p:sldId id="575" r:id="rId12"/>
    <p:sldId id="584" r:id="rId13"/>
    <p:sldId id="576" r:id="rId14"/>
    <p:sldId id="585" r:id="rId15"/>
    <p:sldId id="577" r:id="rId16"/>
    <p:sldId id="586" r:id="rId17"/>
    <p:sldId id="593" r:id="rId18"/>
    <p:sldId id="594" r:id="rId19"/>
    <p:sldId id="595" r:id="rId20"/>
    <p:sldId id="596" r:id="rId21"/>
    <p:sldId id="597" r:id="rId22"/>
    <p:sldId id="598" r:id="rId23"/>
    <p:sldId id="599" r:id="rId24"/>
    <p:sldId id="600" r:id="rId25"/>
    <p:sldId id="601" r:id="rId26"/>
    <p:sldId id="578" r:id="rId27"/>
    <p:sldId id="587" r:id="rId28"/>
    <p:sldId id="602" r:id="rId29"/>
    <p:sldId id="588" r:id="rId30"/>
    <p:sldId id="589" r:id="rId31"/>
    <p:sldId id="603" r:id="rId32"/>
    <p:sldId id="555" r:id="rId33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1377"/>
    <a:srgbClr val="6C94F7"/>
    <a:srgbClr val="6D47EF"/>
    <a:srgbClr val="F8F7F2"/>
    <a:srgbClr val="F7D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86"/>
    <p:restoredTop sz="94651"/>
  </p:normalViewPr>
  <p:slideViewPr>
    <p:cSldViewPr snapToGrid="0">
      <p:cViewPr>
        <p:scale>
          <a:sx n="210" d="100"/>
          <a:sy n="210" d="100"/>
        </p:scale>
        <p:origin x="-4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1F4983-7872-5543-A18B-4C409EFDF500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CA8CFD-E1AB-B64E-9594-A7F3B101C0D1}">
      <dgm:prSet phldrT="[Text]" custT="1"/>
      <dgm:spPr>
        <a:solidFill>
          <a:srgbClr val="311377"/>
        </a:solidFill>
        <a:ln>
          <a:noFill/>
        </a:ln>
      </dgm:spPr>
      <dgm:t>
        <a:bodyPr/>
        <a:lstStyle/>
        <a:p>
          <a:r>
            <a:rPr lang="en-US" sz="1600" dirty="0" err="1">
              <a:solidFill>
                <a:schemeClr val="bg1"/>
              </a:solidFill>
              <a:latin typeface="Instrument Sans" pitchFamily="2" charset="0"/>
            </a:rPr>
            <a:t>Governança</a:t>
          </a:r>
          <a:r>
            <a:rPr lang="en-US" sz="1600" dirty="0">
              <a:solidFill>
                <a:schemeClr val="bg1"/>
              </a:solidFill>
              <a:latin typeface="Instrument Sans" pitchFamily="2" charset="0"/>
            </a:rPr>
            <a:t> e </a:t>
          </a:r>
          <a:r>
            <a:rPr lang="en-US" sz="1600" dirty="0" err="1">
              <a:solidFill>
                <a:schemeClr val="bg1"/>
              </a:solidFill>
              <a:latin typeface="Instrument Sans" pitchFamily="2" charset="0"/>
            </a:rPr>
            <a:t>Observabilidade</a:t>
          </a:r>
          <a:endParaRPr lang="en-US" sz="1600" dirty="0">
            <a:solidFill>
              <a:schemeClr val="bg1"/>
            </a:solidFill>
            <a:latin typeface="Instrument Sans" pitchFamily="2" charset="0"/>
          </a:endParaRPr>
        </a:p>
      </dgm:t>
    </dgm:pt>
    <dgm:pt modelId="{A2C8E96C-8535-2C4C-B714-136E5A6C81BC}" type="parTrans" cxnId="{AF3462CF-49BF-5443-9D08-93AE1F9769DE}">
      <dgm:prSet/>
      <dgm:spPr/>
      <dgm:t>
        <a:bodyPr/>
        <a:lstStyle/>
        <a:p>
          <a:endParaRPr lang="en-US"/>
        </a:p>
      </dgm:t>
    </dgm:pt>
    <dgm:pt modelId="{F9FB2BB0-C7DA-0C45-834E-99D306E47FB1}" type="sibTrans" cxnId="{AF3462CF-49BF-5443-9D08-93AE1F9769DE}">
      <dgm:prSet/>
      <dgm:spPr/>
      <dgm:t>
        <a:bodyPr/>
        <a:lstStyle/>
        <a:p>
          <a:endParaRPr lang="en-US"/>
        </a:p>
      </dgm:t>
    </dgm:pt>
    <dgm:pt modelId="{C3C5F640-BDFA-5448-8267-6408EFA66A30}">
      <dgm:prSet phldrT="[Text]"/>
      <dgm:spPr>
        <a:solidFill>
          <a:srgbClr val="6C94F7">
            <a:alpha val="90000"/>
          </a:srgbClr>
        </a:solidFill>
        <a:ln>
          <a:noFill/>
        </a:ln>
      </dgm:spPr>
      <dgm:t>
        <a:bodyPr/>
        <a:lstStyle/>
        <a:p>
          <a:pPr>
            <a:buFontTx/>
            <a:buNone/>
          </a:pPr>
          <a:r>
            <a:rPr lang="en-US" dirty="0" err="1">
              <a:solidFill>
                <a:schemeClr val="bg1"/>
              </a:solidFill>
              <a:latin typeface="Instrument Sans" pitchFamily="2" charset="0"/>
            </a:rPr>
            <a:t>Diferencial</a:t>
          </a:r>
          <a:endParaRPr lang="en-US" dirty="0">
            <a:solidFill>
              <a:schemeClr val="bg1"/>
            </a:solidFill>
            <a:latin typeface="Instrument Sans" pitchFamily="2" charset="0"/>
          </a:endParaRPr>
        </a:p>
      </dgm:t>
    </dgm:pt>
    <dgm:pt modelId="{8B3F1A41-426C-C54A-904A-4ED68DC5B235}" type="parTrans" cxnId="{C8A9507A-D12F-FD4C-A36E-A33C18D18D6E}">
      <dgm:prSet/>
      <dgm:spPr/>
      <dgm:t>
        <a:bodyPr/>
        <a:lstStyle/>
        <a:p>
          <a:endParaRPr lang="en-US"/>
        </a:p>
      </dgm:t>
    </dgm:pt>
    <dgm:pt modelId="{A766347A-5A7D-4948-86D5-E4136CE77409}" type="sibTrans" cxnId="{C8A9507A-D12F-FD4C-A36E-A33C18D18D6E}">
      <dgm:prSet/>
      <dgm:spPr/>
      <dgm:t>
        <a:bodyPr/>
        <a:lstStyle/>
        <a:p>
          <a:endParaRPr lang="en-US"/>
        </a:p>
      </dgm:t>
    </dgm:pt>
    <dgm:pt modelId="{2B758F79-EEEB-B046-9327-DD878D8828DA}">
      <dgm:prSet phldrT="[Text]" custT="1"/>
      <dgm:spPr>
        <a:solidFill>
          <a:srgbClr val="311377"/>
        </a:solidFill>
        <a:ln>
          <a:noFill/>
        </a:ln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Instrument Sans" pitchFamily="2" charset="0"/>
            </a:rPr>
            <a:t>Runtime de </a:t>
          </a:r>
          <a:r>
            <a:rPr lang="en-US" sz="1600" dirty="0" err="1">
              <a:solidFill>
                <a:schemeClr val="bg1"/>
              </a:solidFill>
              <a:latin typeface="Instrument Sans" pitchFamily="2" charset="0"/>
            </a:rPr>
            <a:t>inferência</a:t>
          </a:r>
          <a:endParaRPr lang="en-US" sz="1600" dirty="0">
            <a:solidFill>
              <a:schemeClr val="bg1"/>
            </a:solidFill>
            <a:latin typeface="Instrument Sans" pitchFamily="2" charset="0"/>
          </a:endParaRPr>
        </a:p>
      </dgm:t>
    </dgm:pt>
    <dgm:pt modelId="{2B5C6BA5-834C-4648-9FE4-B38025B130FF}" type="parTrans" cxnId="{21500E61-6BF6-AA44-A981-BA38363B8345}">
      <dgm:prSet/>
      <dgm:spPr/>
      <dgm:t>
        <a:bodyPr/>
        <a:lstStyle/>
        <a:p>
          <a:endParaRPr lang="en-US"/>
        </a:p>
      </dgm:t>
    </dgm:pt>
    <dgm:pt modelId="{F1933B4D-7B1D-F94A-9C98-F70052E49AE5}" type="sibTrans" cxnId="{21500E61-6BF6-AA44-A981-BA38363B8345}">
      <dgm:prSet/>
      <dgm:spPr/>
      <dgm:t>
        <a:bodyPr/>
        <a:lstStyle/>
        <a:p>
          <a:endParaRPr lang="en-US"/>
        </a:p>
      </dgm:t>
    </dgm:pt>
    <dgm:pt modelId="{7316BB41-5F12-B64E-B610-D2216270F193}">
      <dgm:prSet phldrT="[Text]"/>
      <dgm:spPr>
        <a:solidFill>
          <a:srgbClr val="6C94F7">
            <a:alpha val="90000"/>
          </a:srgbClr>
        </a:solidFill>
        <a:ln>
          <a:noFill/>
        </a:ln>
      </dgm:spPr>
      <dgm:t>
        <a:bodyPr/>
        <a:lstStyle/>
        <a:p>
          <a:pPr>
            <a:buFontTx/>
            <a:buNone/>
          </a:pPr>
          <a:r>
            <a:rPr lang="en-US" dirty="0">
              <a:solidFill>
                <a:schemeClr val="bg1"/>
              </a:solidFill>
              <a:latin typeface="Instrument Sans" pitchFamily="2" charset="0"/>
            </a:rPr>
            <a:t>Commodity (SLA, </a:t>
          </a:r>
          <a:r>
            <a:rPr lang="en-US" dirty="0" err="1">
              <a:solidFill>
                <a:schemeClr val="bg1"/>
              </a:solidFill>
              <a:latin typeface="Instrument Sans" pitchFamily="2" charset="0"/>
            </a:rPr>
            <a:t>Latência</a:t>
          </a:r>
          <a:r>
            <a:rPr lang="en-US" dirty="0">
              <a:solidFill>
                <a:schemeClr val="bg1"/>
              </a:solidFill>
              <a:latin typeface="Instrument Sans" pitchFamily="2" charset="0"/>
            </a:rPr>
            <a:t>)</a:t>
          </a:r>
        </a:p>
      </dgm:t>
    </dgm:pt>
    <dgm:pt modelId="{E6F5ED9E-AA02-3C40-B191-41C8C45DE538}" type="parTrans" cxnId="{F8827B88-6404-284B-AAD8-1B6589D7725F}">
      <dgm:prSet/>
      <dgm:spPr/>
      <dgm:t>
        <a:bodyPr/>
        <a:lstStyle/>
        <a:p>
          <a:endParaRPr lang="en-US"/>
        </a:p>
      </dgm:t>
    </dgm:pt>
    <dgm:pt modelId="{DC12E53E-A94F-1748-B7A2-9F5D2F1D5410}" type="sibTrans" cxnId="{F8827B88-6404-284B-AAD8-1B6589D7725F}">
      <dgm:prSet/>
      <dgm:spPr/>
      <dgm:t>
        <a:bodyPr/>
        <a:lstStyle/>
        <a:p>
          <a:endParaRPr lang="en-US"/>
        </a:p>
      </dgm:t>
    </dgm:pt>
    <dgm:pt modelId="{4CAA8C6C-BE18-7848-8EDF-A985EE6B0CAF}">
      <dgm:prSet phldrT="[Text]" custT="1"/>
      <dgm:spPr>
        <a:solidFill>
          <a:srgbClr val="311377"/>
        </a:solidFill>
        <a:ln>
          <a:noFill/>
        </a:ln>
      </dgm:spPr>
      <dgm:t>
        <a:bodyPr/>
        <a:lstStyle/>
        <a:p>
          <a:r>
            <a:rPr lang="en-US" sz="1600" dirty="0" err="1">
              <a:solidFill>
                <a:schemeClr val="bg1"/>
              </a:solidFill>
              <a:latin typeface="Instrument Sans" pitchFamily="2" charset="0"/>
            </a:rPr>
            <a:t>Infraestrutura</a:t>
          </a:r>
          <a:r>
            <a:rPr lang="en-US" sz="1600" dirty="0">
              <a:solidFill>
                <a:schemeClr val="bg1"/>
              </a:solidFill>
              <a:latin typeface="Instrument Sans" pitchFamily="2" charset="0"/>
            </a:rPr>
            <a:t> de embedding</a:t>
          </a:r>
        </a:p>
      </dgm:t>
    </dgm:pt>
    <dgm:pt modelId="{6ECE7309-A672-D344-A60A-0170EEB44BF0}" type="parTrans" cxnId="{ED703C02-DC7F-7E4E-823A-0F2E888239E1}">
      <dgm:prSet/>
      <dgm:spPr/>
      <dgm:t>
        <a:bodyPr/>
        <a:lstStyle/>
        <a:p>
          <a:endParaRPr lang="en-US"/>
        </a:p>
      </dgm:t>
    </dgm:pt>
    <dgm:pt modelId="{7A77006B-D862-A941-9772-1B969D3D621A}" type="sibTrans" cxnId="{ED703C02-DC7F-7E4E-823A-0F2E888239E1}">
      <dgm:prSet/>
      <dgm:spPr/>
      <dgm:t>
        <a:bodyPr/>
        <a:lstStyle/>
        <a:p>
          <a:endParaRPr lang="en-US"/>
        </a:p>
      </dgm:t>
    </dgm:pt>
    <dgm:pt modelId="{A08B6233-3039-5848-94E8-57C3529ABE6E}">
      <dgm:prSet phldrT="[Text]"/>
      <dgm:spPr>
        <a:solidFill>
          <a:srgbClr val="6C94F7">
            <a:alpha val="90000"/>
          </a:srgbClr>
        </a:solidFill>
        <a:ln>
          <a:noFill/>
        </a:ln>
      </dgm:spPr>
      <dgm:t>
        <a:bodyPr/>
        <a:lstStyle/>
        <a:p>
          <a:pPr>
            <a:buFontTx/>
            <a:buNone/>
          </a:pPr>
          <a:r>
            <a:rPr lang="en-US" dirty="0">
              <a:solidFill>
                <a:schemeClr val="bg1"/>
              </a:solidFill>
              <a:latin typeface="Instrument Sans" pitchFamily="2" charset="0"/>
            </a:rPr>
            <a:t>Commodity</a:t>
          </a:r>
        </a:p>
      </dgm:t>
    </dgm:pt>
    <dgm:pt modelId="{827D3AD7-B1A0-7240-9F6D-54497E07EA95}" type="parTrans" cxnId="{ABAA3029-98B1-D545-BC3A-C85E2FD4E545}">
      <dgm:prSet/>
      <dgm:spPr/>
      <dgm:t>
        <a:bodyPr/>
        <a:lstStyle/>
        <a:p>
          <a:endParaRPr lang="en-US"/>
        </a:p>
      </dgm:t>
    </dgm:pt>
    <dgm:pt modelId="{0468998F-8C1A-8743-AC55-D4BE3BB66212}" type="sibTrans" cxnId="{ABAA3029-98B1-D545-BC3A-C85E2FD4E545}">
      <dgm:prSet/>
      <dgm:spPr/>
      <dgm:t>
        <a:bodyPr/>
        <a:lstStyle/>
        <a:p>
          <a:endParaRPr lang="en-US"/>
        </a:p>
      </dgm:t>
    </dgm:pt>
    <dgm:pt modelId="{B7D7F380-DBF1-C744-9F3C-0BEB9987C077}">
      <dgm:prSet phldrT="[Text]" custT="1"/>
      <dgm:spPr>
        <a:solidFill>
          <a:srgbClr val="311377"/>
        </a:solidFill>
        <a:ln>
          <a:noFill/>
        </a:ln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Instrument Sans" pitchFamily="2" charset="0"/>
            </a:rPr>
            <a:t>Bancos </a:t>
          </a:r>
          <a:r>
            <a:rPr lang="en-US" sz="1600" dirty="0" err="1">
              <a:solidFill>
                <a:schemeClr val="bg1"/>
              </a:solidFill>
              <a:latin typeface="Instrument Sans" pitchFamily="2" charset="0"/>
            </a:rPr>
            <a:t>Vetoriais</a:t>
          </a:r>
          <a:endParaRPr lang="en-US" sz="1600" dirty="0">
            <a:solidFill>
              <a:schemeClr val="bg1"/>
            </a:solidFill>
            <a:latin typeface="Instrument Sans" pitchFamily="2" charset="0"/>
          </a:endParaRPr>
        </a:p>
      </dgm:t>
    </dgm:pt>
    <dgm:pt modelId="{D07BF3BB-3FAB-6B48-A5E3-970A1AF5083D}" type="parTrans" cxnId="{BDD2075D-DAE1-294A-8ED0-583ED3DBAE0C}">
      <dgm:prSet/>
      <dgm:spPr/>
      <dgm:t>
        <a:bodyPr/>
        <a:lstStyle/>
        <a:p>
          <a:endParaRPr lang="en-US"/>
        </a:p>
      </dgm:t>
    </dgm:pt>
    <dgm:pt modelId="{CD5C1EF9-421A-7447-849D-0C7EDA1BF05B}" type="sibTrans" cxnId="{BDD2075D-DAE1-294A-8ED0-583ED3DBAE0C}">
      <dgm:prSet/>
      <dgm:spPr/>
      <dgm:t>
        <a:bodyPr/>
        <a:lstStyle/>
        <a:p>
          <a:endParaRPr lang="en-US"/>
        </a:p>
      </dgm:t>
    </dgm:pt>
    <dgm:pt modelId="{7BFD4B3D-D4F7-AB4E-AFB8-B00C0231AF44}">
      <dgm:prSet/>
      <dgm:spPr>
        <a:solidFill>
          <a:srgbClr val="6C94F7">
            <a:alpha val="90000"/>
          </a:srgbClr>
        </a:solidFill>
        <a:ln>
          <a:noFill/>
        </a:ln>
      </dgm:spPr>
      <dgm:t>
        <a:bodyPr/>
        <a:lstStyle/>
        <a:p>
          <a:pPr>
            <a:buFontTx/>
            <a:buNone/>
          </a:pPr>
          <a:r>
            <a:rPr lang="en-US" dirty="0">
              <a:solidFill>
                <a:schemeClr val="bg1"/>
              </a:solidFill>
              <a:latin typeface="Instrument Sans" pitchFamily="2" charset="0"/>
            </a:rPr>
            <a:t>Commodity</a:t>
          </a:r>
        </a:p>
      </dgm:t>
    </dgm:pt>
    <dgm:pt modelId="{191A084E-0821-6344-9FFB-FB3CB3EB8563}" type="parTrans" cxnId="{0644C474-5F7E-E245-8314-CDA327EABFFD}">
      <dgm:prSet/>
      <dgm:spPr/>
      <dgm:t>
        <a:bodyPr/>
        <a:lstStyle/>
        <a:p>
          <a:endParaRPr lang="en-US"/>
        </a:p>
      </dgm:t>
    </dgm:pt>
    <dgm:pt modelId="{0B57FF27-743A-4143-A29E-3A72D20B8C39}" type="sibTrans" cxnId="{0644C474-5F7E-E245-8314-CDA327EABFFD}">
      <dgm:prSet/>
      <dgm:spPr/>
      <dgm:t>
        <a:bodyPr/>
        <a:lstStyle/>
        <a:p>
          <a:endParaRPr lang="en-US"/>
        </a:p>
      </dgm:t>
    </dgm:pt>
    <dgm:pt modelId="{A427B85B-BA70-474D-A9A3-DE39961F4365}" type="pres">
      <dgm:prSet presAssocID="{3E1F4983-7872-5543-A18B-4C409EFDF500}" presName="Name0" presStyleCnt="0">
        <dgm:presLayoutVars>
          <dgm:dir/>
          <dgm:animLvl val="lvl"/>
          <dgm:resizeHandles val="exact"/>
        </dgm:presLayoutVars>
      </dgm:prSet>
      <dgm:spPr/>
    </dgm:pt>
    <dgm:pt modelId="{EE894445-F15A-4D4F-AF72-A5E544F4BACC}" type="pres">
      <dgm:prSet presAssocID="{C3CA8CFD-E1AB-B64E-9594-A7F3B101C0D1}" presName="linNode" presStyleCnt="0"/>
      <dgm:spPr/>
    </dgm:pt>
    <dgm:pt modelId="{0C44B5A5-9A23-8643-B373-68236B94FE4A}" type="pres">
      <dgm:prSet presAssocID="{C3CA8CFD-E1AB-B64E-9594-A7F3B101C0D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E71858C-9F3E-3841-9CF6-6E360CD4F965}" type="pres">
      <dgm:prSet presAssocID="{C3CA8CFD-E1AB-B64E-9594-A7F3B101C0D1}" presName="descendantText" presStyleLbl="alignAccFollowNode1" presStyleIdx="0" presStyleCnt="4">
        <dgm:presLayoutVars>
          <dgm:bulletEnabled val="1"/>
        </dgm:presLayoutVars>
      </dgm:prSet>
      <dgm:spPr/>
    </dgm:pt>
    <dgm:pt modelId="{4110DBFA-EA59-884D-BA62-DCC48B6A4CA7}" type="pres">
      <dgm:prSet presAssocID="{F9FB2BB0-C7DA-0C45-834E-99D306E47FB1}" presName="sp" presStyleCnt="0"/>
      <dgm:spPr/>
    </dgm:pt>
    <dgm:pt modelId="{A45AB352-7436-9F44-B35C-C31E634C539F}" type="pres">
      <dgm:prSet presAssocID="{2B758F79-EEEB-B046-9327-DD878D8828DA}" presName="linNode" presStyleCnt="0"/>
      <dgm:spPr/>
    </dgm:pt>
    <dgm:pt modelId="{B44DB4DD-17AF-4F48-852C-C2B39E5CEB0D}" type="pres">
      <dgm:prSet presAssocID="{2B758F79-EEEB-B046-9327-DD878D8828D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9BD98E6-E5FC-4243-8B1F-DA7FF8B0E10C}" type="pres">
      <dgm:prSet presAssocID="{2B758F79-EEEB-B046-9327-DD878D8828DA}" presName="descendantText" presStyleLbl="alignAccFollowNode1" presStyleIdx="1" presStyleCnt="4">
        <dgm:presLayoutVars>
          <dgm:bulletEnabled val="1"/>
        </dgm:presLayoutVars>
      </dgm:prSet>
      <dgm:spPr/>
    </dgm:pt>
    <dgm:pt modelId="{5F988492-44DD-354C-B4EE-2E6E1E88F966}" type="pres">
      <dgm:prSet presAssocID="{F1933B4D-7B1D-F94A-9C98-F70052E49AE5}" presName="sp" presStyleCnt="0"/>
      <dgm:spPr/>
    </dgm:pt>
    <dgm:pt modelId="{B09C3063-F834-0248-A2DC-FD8394197471}" type="pres">
      <dgm:prSet presAssocID="{4CAA8C6C-BE18-7848-8EDF-A985EE6B0CAF}" presName="linNode" presStyleCnt="0"/>
      <dgm:spPr/>
    </dgm:pt>
    <dgm:pt modelId="{3E515B63-439A-1C4E-87BB-29A315A41106}" type="pres">
      <dgm:prSet presAssocID="{4CAA8C6C-BE18-7848-8EDF-A985EE6B0CA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0361728-68F0-A64D-BC4C-EADF489364EF}" type="pres">
      <dgm:prSet presAssocID="{4CAA8C6C-BE18-7848-8EDF-A985EE6B0CAF}" presName="descendantText" presStyleLbl="alignAccFollowNode1" presStyleIdx="2" presStyleCnt="4">
        <dgm:presLayoutVars>
          <dgm:bulletEnabled val="1"/>
        </dgm:presLayoutVars>
      </dgm:prSet>
      <dgm:spPr/>
    </dgm:pt>
    <dgm:pt modelId="{07267133-329C-6E46-B209-245C88E2754C}" type="pres">
      <dgm:prSet presAssocID="{7A77006B-D862-A941-9772-1B969D3D621A}" presName="sp" presStyleCnt="0"/>
      <dgm:spPr/>
    </dgm:pt>
    <dgm:pt modelId="{5FB2D9BE-5BF7-DC4A-B966-D856C3C5717A}" type="pres">
      <dgm:prSet presAssocID="{B7D7F380-DBF1-C744-9F3C-0BEB9987C077}" presName="linNode" presStyleCnt="0"/>
      <dgm:spPr/>
    </dgm:pt>
    <dgm:pt modelId="{E68E0923-2514-7946-8D84-285E1281CD43}" type="pres">
      <dgm:prSet presAssocID="{B7D7F380-DBF1-C744-9F3C-0BEB9987C077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13F07DB-B8D0-BD41-BF71-382712B1507F}" type="pres">
      <dgm:prSet presAssocID="{B7D7F380-DBF1-C744-9F3C-0BEB9987C077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ED703C02-DC7F-7E4E-823A-0F2E888239E1}" srcId="{3E1F4983-7872-5543-A18B-4C409EFDF500}" destId="{4CAA8C6C-BE18-7848-8EDF-A985EE6B0CAF}" srcOrd="2" destOrd="0" parTransId="{6ECE7309-A672-D344-A60A-0170EEB44BF0}" sibTransId="{7A77006B-D862-A941-9772-1B969D3D621A}"/>
    <dgm:cxn modelId="{E37A0809-C5B8-1143-B984-C9BB54C235CA}" type="presOf" srcId="{2B758F79-EEEB-B046-9327-DD878D8828DA}" destId="{B44DB4DD-17AF-4F48-852C-C2B39E5CEB0D}" srcOrd="0" destOrd="0" presId="urn:microsoft.com/office/officeart/2005/8/layout/vList5"/>
    <dgm:cxn modelId="{60332D1F-5CD9-C149-ACAC-DE630769AD65}" type="presOf" srcId="{3E1F4983-7872-5543-A18B-4C409EFDF500}" destId="{A427B85B-BA70-474D-A9A3-DE39961F4365}" srcOrd="0" destOrd="0" presId="urn:microsoft.com/office/officeart/2005/8/layout/vList5"/>
    <dgm:cxn modelId="{ABAA3029-98B1-D545-BC3A-C85E2FD4E545}" srcId="{4CAA8C6C-BE18-7848-8EDF-A985EE6B0CAF}" destId="{A08B6233-3039-5848-94E8-57C3529ABE6E}" srcOrd="0" destOrd="0" parTransId="{827D3AD7-B1A0-7240-9F6D-54497E07EA95}" sibTransId="{0468998F-8C1A-8743-AC55-D4BE3BB66212}"/>
    <dgm:cxn modelId="{8F6A7E29-D38D-4645-AF04-8223D3059046}" type="presOf" srcId="{7316BB41-5F12-B64E-B610-D2216270F193}" destId="{69BD98E6-E5FC-4243-8B1F-DA7FF8B0E10C}" srcOrd="0" destOrd="0" presId="urn:microsoft.com/office/officeart/2005/8/layout/vList5"/>
    <dgm:cxn modelId="{39BA1139-A019-4146-B1F9-77C31EDBD4E9}" type="presOf" srcId="{C3CA8CFD-E1AB-B64E-9594-A7F3B101C0D1}" destId="{0C44B5A5-9A23-8643-B373-68236B94FE4A}" srcOrd="0" destOrd="0" presId="urn:microsoft.com/office/officeart/2005/8/layout/vList5"/>
    <dgm:cxn modelId="{BDD2075D-DAE1-294A-8ED0-583ED3DBAE0C}" srcId="{3E1F4983-7872-5543-A18B-4C409EFDF500}" destId="{B7D7F380-DBF1-C744-9F3C-0BEB9987C077}" srcOrd="3" destOrd="0" parTransId="{D07BF3BB-3FAB-6B48-A5E3-970A1AF5083D}" sibTransId="{CD5C1EF9-421A-7447-849D-0C7EDA1BF05B}"/>
    <dgm:cxn modelId="{21500E61-6BF6-AA44-A981-BA38363B8345}" srcId="{3E1F4983-7872-5543-A18B-4C409EFDF500}" destId="{2B758F79-EEEB-B046-9327-DD878D8828DA}" srcOrd="1" destOrd="0" parTransId="{2B5C6BA5-834C-4648-9FE4-B38025B130FF}" sibTransId="{F1933B4D-7B1D-F94A-9C98-F70052E49AE5}"/>
    <dgm:cxn modelId="{0644C474-5F7E-E245-8314-CDA327EABFFD}" srcId="{B7D7F380-DBF1-C744-9F3C-0BEB9987C077}" destId="{7BFD4B3D-D4F7-AB4E-AFB8-B00C0231AF44}" srcOrd="0" destOrd="0" parTransId="{191A084E-0821-6344-9FFB-FB3CB3EB8563}" sibTransId="{0B57FF27-743A-4143-A29E-3A72D20B8C39}"/>
    <dgm:cxn modelId="{C8A9507A-D12F-FD4C-A36E-A33C18D18D6E}" srcId="{C3CA8CFD-E1AB-B64E-9594-A7F3B101C0D1}" destId="{C3C5F640-BDFA-5448-8267-6408EFA66A30}" srcOrd="0" destOrd="0" parTransId="{8B3F1A41-426C-C54A-904A-4ED68DC5B235}" sibTransId="{A766347A-5A7D-4948-86D5-E4136CE77409}"/>
    <dgm:cxn modelId="{F8827B88-6404-284B-AAD8-1B6589D7725F}" srcId="{2B758F79-EEEB-B046-9327-DD878D8828DA}" destId="{7316BB41-5F12-B64E-B610-D2216270F193}" srcOrd="0" destOrd="0" parTransId="{E6F5ED9E-AA02-3C40-B191-41C8C45DE538}" sibTransId="{DC12E53E-A94F-1748-B7A2-9F5D2F1D5410}"/>
    <dgm:cxn modelId="{EF39B58C-72B3-EE49-BF02-FB4BB5A82EB7}" type="presOf" srcId="{C3C5F640-BDFA-5448-8267-6408EFA66A30}" destId="{4E71858C-9F3E-3841-9CF6-6E360CD4F965}" srcOrd="0" destOrd="0" presId="urn:microsoft.com/office/officeart/2005/8/layout/vList5"/>
    <dgm:cxn modelId="{6EDEA19C-2C5C-834F-95FB-BDE7B07ECF44}" type="presOf" srcId="{B7D7F380-DBF1-C744-9F3C-0BEB9987C077}" destId="{E68E0923-2514-7946-8D84-285E1281CD43}" srcOrd="0" destOrd="0" presId="urn:microsoft.com/office/officeart/2005/8/layout/vList5"/>
    <dgm:cxn modelId="{F07205A5-192A-094D-8229-316ACB440170}" type="presOf" srcId="{7BFD4B3D-D4F7-AB4E-AFB8-B00C0231AF44}" destId="{B13F07DB-B8D0-BD41-BF71-382712B1507F}" srcOrd="0" destOrd="0" presId="urn:microsoft.com/office/officeart/2005/8/layout/vList5"/>
    <dgm:cxn modelId="{AF3462CF-49BF-5443-9D08-93AE1F9769DE}" srcId="{3E1F4983-7872-5543-A18B-4C409EFDF500}" destId="{C3CA8CFD-E1AB-B64E-9594-A7F3B101C0D1}" srcOrd="0" destOrd="0" parTransId="{A2C8E96C-8535-2C4C-B714-136E5A6C81BC}" sibTransId="{F9FB2BB0-C7DA-0C45-834E-99D306E47FB1}"/>
    <dgm:cxn modelId="{062A43E4-BE45-C147-8E97-89E3D22050F2}" type="presOf" srcId="{A08B6233-3039-5848-94E8-57C3529ABE6E}" destId="{00361728-68F0-A64D-BC4C-EADF489364EF}" srcOrd="0" destOrd="0" presId="urn:microsoft.com/office/officeart/2005/8/layout/vList5"/>
    <dgm:cxn modelId="{DA301FF5-BC0B-804C-85B8-889EA0198681}" type="presOf" srcId="{4CAA8C6C-BE18-7848-8EDF-A985EE6B0CAF}" destId="{3E515B63-439A-1C4E-87BB-29A315A41106}" srcOrd="0" destOrd="0" presId="urn:microsoft.com/office/officeart/2005/8/layout/vList5"/>
    <dgm:cxn modelId="{DE4C7773-037D-7043-83C9-15A30B10D716}" type="presParOf" srcId="{A427B85B-BA70-474D-A9A3-DE39961F4365}" destId="{EE894445-F15A-4D4F-AF72-A5E544F4BACC}" srcOrd="0" destOrd="0" presId="urn:microsoft.com/office/officeart/2005/8/layout/vList5"/>
    <dgm:cxn modelId="{591F4892-4914-A044-81F2-EC5A470F3F5B}" type="presParOf" srcId="{EE894445-F15A-4D4F-AF72-A5E544F4BACC}" destId="{0C44B5A5-9A23-8643-B373-68236B94FE4A}" srcOrd="0" destOrd="0" presId="urn:microsoft.com/office/officeart/2005/8/layout/vList5"/>
    <dgm:cxn modelId="{B8299F2D-C651-7C4B-977C-A985C6A3220D}" type="presParOf" srcId="{EE894445-F15A-4D4F-AF72-A5E544F4BACC}" destId="{4E71858C-9F3E-3841-9CF6-6E360CD4F965}" srcOrd="1" destOrd="0" presId="urn:microsoft.com/office/officeart/2005/8/layout/vList5"/>
    <dgm:cxn modelId="{01478640-B66F-5F40-87DE-BCCB41803639}" type="presParOf" srcId="{A427B85B-BA70-474D-A9A3-DE39961F4365}" destId="{4110DBFA-EA59-884D-BA62-DCC48B6A4CA7}" srcOrd="1" destOrd="0" presId="urn:microsoft.com/office/officeart/2005/8/layout/vList5"/>
    <dgm:cxn modelId="{95F6DEDB-1FC0-BF46-B80F-9758E9746B1F}" type="presParOf" srcId="{A427B85B-BA70-474D-A9A3-DE39961F4365}" destId="{A45AB352-7436-9F44-B35C-C31E634C539F}" srcOrd="2" destOrd="0" presId="urn:microsoft.com/office/officeart/2005/8/layout/vList5"/>
    <dgm:cxn modelId="{6C69E87D-10E4-3140-9B68-7DB16F56FDD0}" type="presParOf" srcId="{A45AB352-7436-9F44-B35C-C31E634C539F}" destId="{B44DB4DD-17AF-4F48-852C-C2B39E5CEB0D}" srcOrd="0" destOrd="0" presId="urn:microsoft.com/office/officeart/2005/8/layout/vList5"/>
    <dgm:cxn modelId="{9B0E64AF-1284-854D-9FA0-C5F111872D60}" type="presParOf" srcId="{A45AB352-7436-9F44-B35C-C31E634C539F}" destId="{69BD98E6-E5FC-4243-8B1F-DA7FF8B0E10C}" srcOrd="1" destOrd="0" presId="urn:microsoft.com/office/officeart/2005/8/layout/vList5"/>
    <dgm:cxn modelId="{9950CE34-AECA-C54E-AB14-905397AAC19C}" type="presParOf" srcId="{A427B85B-BA70-474D-A9A3-DE39961F4365}" destId="{5F988492-44DD-354C-B4EE-2E6E1E88F966}" srcOrd="3" destOrd="0" presId="urn:microsoft.com/office/officeart/2005/8/layout/vList5"/>
    <dgm:cxn modelId="{94400702-901D-CA4E-9EC0-408A337DBE3C}" type="presParOf" srcId="{A427B85B-BA70-474D-A9A3-DE39961F4365}" destId="{B09C3063-F834-0248-A2DC-FD8394197471}" srcOrd="4" destOrd="0" presId="urn:microsoft.com/office/officeart/2005/8/layout/vList5"/>
    <dgm:cxn modelId="{BF511BE5-A79F-DD47-93DE-68967EEA4A82}" type="presParOf" srcId="{B09C3063-F834-0248-A2DC-FD8394197471}" destId="{3E515B63-439A-1C4E-87BB-29A315A41106}" srcOrd="0" destOrd="0" presId="urn:microsoft.com/office/officeart/2005/8/layout/vList5"/>
    <dgm:cxn modelId="{8674972B-918D-6D4B-B7A8-408825ED65D5}" type="presParOf" srcId="{B09C3063-F834-0248-A2DC-FD8394197471}" destId="{00361728-68F0-A64D-BC4C-EADF489364EF}" srcOrd="1" destOrd="0" presId="urn:microsoft.com/office/officeart/2005/8/layout/vList5"/>
    <dgm:cxn modelId="{886A0261-DA56-7946-9CDB-0DB00260850C}" type="presParOf" srcId="{A427B85B-BA70-474D-A9A3-DE39961F4365}" destId="{07267133-329C-6E46-B209-245C88E2754C}" srcOrd="5" destOrd="0" presId="urn:microsoft.com/office/officeart/2005/8/layout/vList5"/>
    <dgm:cxn modelId="{6FC95796-EAFE-554F-A1AC-1DF840842B99}" type="presParOf" srcId="{A427B85B-BA70-474D-A9A3-DE39961F4365}" destId="{5FB2D9BE-5BF7-DC4A-B966-D856C3C5717A}" srcOrd="6" destOrd="0" presId="urn:microsoft.com/office/officeart/2005/8/layout/vList5"/>
    <dgm:cxn modelId="{DC8F5CE1-BE3D-DB49-81A8-FD9F3743FC6E}" type="presParOf" srcId="{5FB2D9BE-5BF7-DC4A-B966-D856C3C5717A}" destId="{E68E0923-2514-7946-8D84-285E1281CD43}" srcOrd="0" destOrd="0" presId="urn:microsoft.com/office/officeart/2005/8/layout/vList5"/>
    <dgm:cxn modelId="{F8F6D1BE-3CFD-5746-9293-70BBD9420FF7}" type="presParOf" srcId="{5FB2D9BE-5BF7-DC4A-B966-D856C3C5717A}" destId="{B13F07DB-B8D0-BD41-BF71-382712B1507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1858C-9F3E-3841-9CF6-6E360CD4F965}">
      <dsp:nvSpPr>
        <dsp:cNvPr id="0" name=""/>
        <dsp:cNvSpPr/>
      </dsp:nvSpPr>
      <dsp:spPr>
        <a:xfrm rot="5400000">
          <a:off x="3753961" y="-1459537"/>
          <a:ext cx="782637" cy="3901440"/>
        </a:xfrm>
        <a:prstGeom prst="round2SameRect">
          <a:avLst/>
        </a:prstGeom>
        <a:solidFill>
          <a:srgbClr val="6C94F7">
            <a:alpha val="9000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200" kern="1200" dirty="0" err="1">
              <a:solidFill>
                <a:schemeClr val="bg1"/>
              </a:solidFill>
              <a:latin typeface="Instrument Sans" pitchFamily="2" charset="0"/>
            </a:rPr>
            <a:t>Diferencial</a:t>
          </a:r>
          <a:endParaRPr lang="en-US" sz="2200" kern="1200" dirty="0">
            <a:solidFill>
              <a:schemeClr val="bg1"/>
            </a:solidFill>
            <a:latin typeface="Instrument Sans" pitchFamily="2" charset="0"/>
          </a:endParaRPr>
        </a:p>
      </dsp:txBody>
      <dsp:txXfrm rot="-5400000">
        <a:off x="2194560" y="138069"/>
        <a:ext cx="3863235" cy="706227"/>
      </dsp:txXfrm>
    </dsp:sp>
    <dsp:sp modelId="{0C44B5A5-9A23-8643-B373-68236B94FE4A}">
      <dsp:nvSpPr>
        <dsp:cNvPr id="0" name=""/>
        <dsp:cNvSpPr/>
      </dsp:nvSpPr>
      <dsp:spPr>
        <a:xfrm>
          <a:off x="0" y="2033"/>
          <a:ext cx="2194560" cy="978296"/>
        </a:xfrm>
        <a:prstGeom prst="roundRect">
          <a:avLst/>
        </a:prstGeom>
        <a:solidFill>
          <a:srgbClr val="311377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bg1"/>
              </a:solidFill>
              <a:latin typeface="Instrument Sans" pitchFamily="2" charset="0"/>
            </a:rPr>
            <a:t>Governança</a:t>
          </a:r>
          <a:r>
            <a:rPr lang="en-US" sz="1600" kern="1200" dirty="0">
              <a:solidFill>
                <a:schemeClr val="bg1"/>
              </a:solidFill>
              <a:latin typeface="Instrument Sans" pitchFamily="2" charset="0"/>
            </a:rPr>
            <a:t> e </a:t>
          </a:r>
          <a:r>
            <a:rPr lang="en-US" sz="1600" kern="1200" dirty="0" err="1">
              <a:solidFill>
                <a:schemeClr val="bg1"/>
              </a:solidFill>
              <a:latin typeface="Instrument Sans" pitchFamily="2" charset="0"/>
            </a:rPr>
            <a:t>Observabilidade</a:t>
          </a:r>
          <a:endParaRPr lang="en-US" sz="1600" kern="1200" dirty="0">
            <a:solidFill>
              <a:schemeClr val="bg1"/>
            </a:solidFill>
            <a:latin typeface="Instrument Sans" pitchFamily="2" charset="0"/>
          </a:endParaRPr>
        </a:p>
      </dsp:txBody>
      <dsp:txXfrm>
        <a:off x="47756" y="49789"/>
        <a:ext cx="2099048" cy="882784"/>
      </dsp:txXfrm>
    </dsp:sp>
    <dsp:sp modelId="{69BD98E6-E5FC-4243-8B1F-DA7FF8B0E10C}">
      <dsp:nvSpPr>
        <dsp:cNvPr id="0" name=""/>
        <dsp:cNvSpPr/>
      </dsp:nvSpPr>
      <dsp:spPr>
        <a:xfrm rot="5400000">
          <a:off x="3753961" y="-432325"/>
          <a:ext cx="782637" cy="3901440"/>
        </a:xfrm>
        <a:prstGeom prst="round2SameRect">
          <a:avLst/>
        </a:prstGeom>
        <a:solidFill>
          <a:srgbClr val="6C94F7">
            <a:alpha val="9000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200" kern="1200" dirty="0">
              <a:solidFill>
                <a:schemeClr val="bg1"/>
              </a:solidFill>
              <a:latin typeface="Instrument Sans" pitchFamily="2" charset="0"/>
            </a:rPr>
            <a:t>Commodity (SLA, </a:t>
          </a:r>
          <a:r>
            <a:rPr lang="en-US" sz="2200" kern="1200" dirty="0" err="1">
              <a:solidFill>
                <a:schemeClr val="bg1"/>
              </a:solidFill>
              <a:latin typeface="Instrument Sans" pitchFamily="2" charset="0"/>
            </a:rPr>
            <a:t>Latência</a:t>
          </a:r>
          <a:r>
            <a:rPr lang="en-US" sz="2200" kern="1200" dirty="0">
              <a:solidFill>
                <a:schemeClr val="bg1"/>
              </a:solidFill>
              <a:latin typeface="Instrument Sans" pitchFamily="2" charset="0"/>
            </a:rPr>
            <a:t>)</a:t>
          </a:r>
        </a:p>
      </dsp:txBody>
      <dsp:txXfrm rot="-5400000">
        <a:off x="2194560" y="1165281"/>
        <a:ext cx="3863235" cy="706227"/>
      </dsp:txXfrm>
    </dsp:sp>
    <dsp:sp modelId="{B44DB4DD-17AF-4F48-852C-C2B39E5CEB0D}">
      <dsp:nvSpPr>
        <dsp:cNvPr id="0" name=""/>
        <dsp:cNvSpPr/>
      </dsp:nvSpPr>
      <dsp:spPr>
        <a:xfrm>
          <a:off x="0" y="1029245"/>
          <a:ext cx="2194560" cy="978296"/>
        </a:xfrm>
        <a:prstGeom prst="roundRect">
          <a:avLst/>
        </a:prstGeom>
        <a:solidFill>
          <a:srgbClr val="311377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Instrument Sans" pitchFamily="2" charset="0"/>
            </a:rPr>
            <a:t>Runtime de </a:t>
          </a:r>
          <a:r>
            <a:rPr lang="en-US" sz="1600" kern="1200" dirty="0" err="1">
              <a:solidFill>
                <a:schemeClr val="bg1"/>
              </a:solidFill>
              <a:latin typeface="Instrument Sans" pitchFamily="2" charset="0"/>
            </a:rPr>
            <a:t>inferência</a:t>
          </a:r>
          <a:endParaRPr lang="en-US" sz="1600" kern="1200" dirty="0">
            <a:solidFill>
              <a:schemeClr val="bg1"/>
            </a:solidFill>
            <a:latin typeface="Instrument Sans" pitchFamily="2" charset="0"/>
          </a:endParaRPr>
        </a:p>
      </dsp:txBody>
      <dsp:txXfrm>
        <a:off x="47756" y="1077001"/>
        <a:ext cx="2099048" cy="882784"/>
      </dsp:txXfrm>
    </dsp:sp>
    <dsp:sp modelId="{00361728-68F0-A64D-BC4C-EADF489364EF}">
      <dsp:nvSpPr>
        <dsp:cNvPr id="0" name=""/>
        <dsp:cNvSpPr/>
      </dsp:nvSpPr>
      <dsp:spPr>
        <a:xfrm rot="5400000">
          <a:off x="3753961" y="594885"/>
          <a:ext cx="782637" cy="3901440"/>
        </a:xfrm>
        <a:prstGeom prst="round2SameRect">
          <a:avLst/>
        </a:prstGeom>
        <a:solidFill>
          <a:srgbClr val="6C94F7">
            <a:alpha val="9000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200" kern="1200" dirty="0">
              <a:solidFill>
                <a:schemeClr val="bg1"/>
              </a:solidFill>
              <a:latin typeface="Instrument Sans" pitchFamily="2" charset="0"/>
            </a:rPr>
            <a:t>Commodity</a:t>
          </a:r>
        </a:p>
      </dsp:txBody>
      <dsp:txXfrm rot="-5400000">
        <a:off x="2194560" y="2192492"/>
        <a:ext cx="3863235" cy="706227"/>
      </dsp:txXfrm>
    </dsp:sp>
    <dsp:sp modelId="{3E515B63-439A-1C4E-87BB-29A315A41106}">
      <dsp:nvSpPr>
        <dsp:cNvPr id="0" name=""/>
        <dsp:cNvSpPr/>
      </dsp:nvSpPr>
      <dsp:spPr>
        <a:xfrm>
          <a:off x="0" y="2056457"/>
          <a:ext cx="2194560" cy="978296"/>
        </a:xfrm>
        <a:prstGeom prst="roundRect">
          <a:avLst/>
        </a:prstGeom>
        <a:solidFill>
          <a:srgbClr val="311377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bg1"/>
              </a:solidFill>
              <a:latin typeface="Instrument Sans" pitchFamily="2" charset="0"/>
            </a:rPr>
            <a:t>Infraestrutura</a:t>
          </a:r>
          <a:r>
            <a:rPr lang="en-US" sz="1600" kern="1200" dirty="0">
              <a:solidFill>
                <a:schemeClr val="bg1"/>
              </a:solidFill>
              <a:latin typeface="Instrument Sans" pitchFamily="2" charset="0"/>
            </a:rPr>
            <a:t> de embedding</a:t>
          </a:r>
        </a:p>
      </dsp:txBody>
      <dsp:txXfrm>
        <a:off x="47756" y="2104213"/>
        <a:ext cx="2099048" cy="882784"/>
      </dsp:txXfrm>
    </dsp:sp>
    <dsp:sp modelId="{B13F07DB-B8D0-BD41-BF71-382712B1507F}">
      <dsp:nvSpPr>
        <dsp:cNvPr id="0" name=""/>
        <dsp:cNvSpPr/>
      </dsp:nvSpPr>
      <dsp:spPr>
        <a:xfrm rot="5400000">
          <a:off x="3753961" y="1622097"/>
          <a:ext cx="782637" cy="3901440"/>
        </a:xfrm>
        <a:prstGeom prst="round2SameRect">
          <a:avLst/>
        </a:prstGeom>
        <a:solidFill>
          <a:srgbClr val="6C94F7">
            <a:alpha val="90000"/>
          </a:srgb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200" kern="1200" dirty="0">
              <a:solidFill>
                <a:schemeClr val="bg1"/>
              </a:solidFill>
              <a:latin typeface="Instrument Sans" pitchFamily="2" charset="0"/>
            </a:rPr>
            <a:t>Commodity</a:t>
          </a:r>
        </a:p>
      </dsp:txBody>
      <dsp:txXfrm rot="-5400000">
        <a:off x="2194560" y="3219704"/>
        <a:ext cx="3863235" cy="706227"/>
      </dsp:txXfrm>
    </dsp:sp>
    <dsp:sp modelId="{E68E0923-2514-7946-8D84-285E1281CD43}">
      <dsp:nvSpPr>
        <dsp:cNvPr id="0" name=""/>
        <dsp:cNvSpPr/>
      </dsp:nvSpPr>
      <dsp:spPr>
        <a:xfrm>
          <a:off x="0" y="3083669"/>
          <a:ext cx="2194560" cy="978296"/>
        </a:xfrm>
        <a:prstGeom prst="roundRect">
          <a:avLst/>
        </a:prstGeom>
        <a:solidFill>
          <a:srgbClr val="311377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Instrument Sans" pitchFamily="2" charset="0"/>
            </a:rPr>
            <a:t>Bancos </a:t>
          </a:r>
          <a:r>
            <a:rPr lang="en-US" sz="1600" kern="1200" dirty="0" err="1">
              <a:solidFill>
                <a:schemeClr val="bg1"/>
              </a:solidFill>
              <a:latin typeface="Instrument Sans" pitchFamily="2" charset="0"/>
            </a:rPr>
            <a:t>Vetoriais</a:t>
          </a:r>
          <a:endParaRPr lang="en-US" sz="1600" kern="1200" dirty="0">
            <a:solidFill>
              <a:schemeClr val="bg1"/>
            </a:solidFill>
            <a:latin typeface="Instrument Sans" pitchFamily="2" charset="0"/>
          </a:endParaRPr>
        </a:p>
      </dsp:txBody>
      <dsp:txXfrm>
        <a:off x="47756" y="3131425"/>
        <a:ext cx="2099048" cy="882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1EACD-11B1-8046-8D08-81C243276F56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15A55-5AD0-6C40-9F5E-9C0F1F5DC42E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7637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7FB82-BF0B-5C7F-A42A-D42192C8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53515-2912-9783-372C-B7962855E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5BE22-CAB1-CD5E-6C2B-175C12D84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0D0AD-F1B0-029A-D56A-BB7CC8ACF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BD0ED-9B23-044E-B41B-3746F5C5BAD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871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6265C-EE2F-B658-EC88-020E6AC0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B1410-CA59-9477-8FD0-3D9986795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A9D86-EC08-C0A1-C1BC-0FF1019F6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77200-BC2C-F170-1D45-1509A9668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BD0ED-9B23-044E-B41B-3746F5C5BAD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743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87DE6-668E-EB28-5F4B-301F5F4E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E14C2-5954-BF63-DD01-F6A48FB89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00B7B-CB63-6555-40AE-25E7518A6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68320-EF6B-6784-9055-50DD2C613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BD0ED-9B23-044E-B41B-3746F5C5BAD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101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D6E49-F09B-3C6E-9BF8-F2D4E62D0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1D966-90D9-85D3-007F-EBB1CF2A4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4CB4D-45E8-4EE9-4F0C-144FA5159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73F2F-9AD6-28DA-34C0-80DDF88AF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BD0ED-9B23-044E-B41B-3746F5C5BADC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700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9517F-8A0B-4529-F2C2-0D2C6C0E4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8476A-A8EC-987C-DA36-5068E246E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D3E39-9A70-B11D-4616-172616467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EBDC9-AE09-1178-0269-05D99F248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BD0ED-9B23-044E-B41B-3746F5C5BADC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648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B728-7872-F410-D6A1-BC3B26C5C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13841-2C4E-9DD2-9504-9DE7D01E3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F4000-0D8D-8E26-78E8-0CC7DF170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3D6B3-7F05-9F92-0340-4D944D187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BD0ED-9B23-044E-B41B-3746F5C5BADC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581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6DD80-688C-98AD-9452-4224E6997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11F70-A3FF-2B96-661F-C366B170E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EDE30-C0DB-B3D8-8168-4DF309CF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C3B1F-9B94-C90C-81CD-C8D022E25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5BD0ED-9B23-044E-B41B-3746F5C5BADC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311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5DEB-6E1A-581E-AFDB-ADA923F0A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23DAD-96A9-0BEE-60ED-23183A175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9E6FA-7CAB-65DE-3BC3-352CED5A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9BF44-5F1A-B15A-1224-0AF294153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94E18-6CCD-CBF3-FE70-94939870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470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7B39-AC1B-A9DF-06DB-CE5DE2C2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1FF4F-F27B-0F0F-1B9F-176BA2A56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04127-D5DB-5F23-41D5-385CD5EC6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AF2B2-D115-C961-B039-87BE3269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4D0A2-9D27-26C1-0FED-3FF8511C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2138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B921-25EB-A19A-04CF-3F6BF879E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78880-4D37-1008-EAC9-BF1DAC5E2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40789-B043-7976-32BA-2B148900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E237F-9BFD-4E5F-0CFB-E0C23787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15E6B-4E11-97FE-91AA-D21B22FA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2155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ABDE9-9746-E637-8404-2E0F3500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7DFBA-C900-3193-C1CC-B045E6538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4F923-DFA5-5A3C-5A70-753F1A675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2260D-23D3-C80A-DEB3-26FEB6E8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BED63-53FC-E0C5-3166-FF0991C0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05ABC-84B2-B58E-AEE3-7A947CBD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31907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EEAD2-5682-A9F0-D9E1-7494A8719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EC60B-7DAC-77C8-5043-13C59F077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D7F4D-872D-4DC2-C86F-C67581A94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CE23C-B97A-BF87-660B-3BE791CE7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2E483-40FF-FF0A-AF2E-65B2DBB1D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E6069-FF3A-3F9A-CC9D-8FB54FDDF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B832A-D88B-8016-3EA9-DE30981E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0B6E9-A8B8-D852-A6E2-18E9E153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3890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2AFB-B022-4555-3693-5F5894BD6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F73C8-D8AC-71E1-EF28-B452E009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EB031-69EF-18F8-9791-77C3062C3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B1C53-3968-17E2-78B1-32DA9F87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6501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785CF8-2C6D-B5F3-B16B-0E27525A6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A03015-42D3-088B-47DA-614F5F1FA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FA249-8277-B134-AB47-12445BD4D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3817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D34AC6-6734-292D-ABE4-096698C3EB66}"/>
              </a:ext>
            </a:extLst>
          </p:cNvPr>
          <p:cNvSpPr/>
          <p:nvPr userDrawn="1"/>
        </p:nvSpPr>
        <p:spPr>
          <a:xfrm>
            <a:off x="0" y="0"/>
            <a:ext cx="5053914" cy="6858000"/>
          </a:xfrm>
          <a:prstGeom prst="rect">
            <a:avLst/>
          </a:prstGeom>
          <a:solidFill>
            <a:srgbClr val="6D4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99E98-69B3-E3D0-0812-7617F0D4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715AF-04FB-FEDA-65DF-62C486462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8D63B-A629-07DD-C2C6-A9971DD5C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77173-3F3C-C5AF-F8FD-1DF5E6F0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35D8F-5311-F9A0-09A6-5A227CE4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49631-ACB7-3F2A-3418-667672E0F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8668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D34AC6-6734-292D-ABE4-096698C3EB66}"/>
              </a:ext>
            </a:extLst>
          </p:cNvPr>
          <p:cNvSpPr/>
          <p:nvPr userDrawn="1"/>
        </p:nvSpPr>
        <p:spPr>
          <a:xfrm>
            <a:off x="0" y="0"/>
            <a:ext cx="5053914" cy="6858000"/>
          </a:xfrm>
          <a:prstGeom prst="rect">
            <a:avLst/>
          </a:prstGeom>
          <a:solidFill>
            <a:srgbClr val="6D4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99E98-69B3-E3D0-0812-7617F0D4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715AF-04FB-FEDA-65DF-62C486462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8D63B-A629-07DD-C2C6-A9971DD5C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52700"/>
            <a:ext cx="3932237" cy="3316288"/>
          </a:xfrm>
        </p:spPr>
        <p:txBody>
          <a:bodyPr/>
          <a:lstStyle>
            <a:lvl1pPr marL="0" indent="0">
              <a:buNone/>
              <a:defRPr sz="1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77173-3F3C-C5AF-F8FD-1DF5E6F0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35D8F-5311-F9A0-09A6-5A227CE4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49631-ACB7-3F2A-3418-667672E0F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3520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3698-FA86-AE7C-42BF-3824173AE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106DFD-8DD9-5F83-E5F3-D95D30F99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567D5-31A4-1A29-CB1C-E81A93F18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8AE76-95B4-841C-B598-48E36A4C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321E8-7BA5-364E-845A-60D5D0B10828}" type="datetimeFigureOut">
              <a:rPr lang="en-BR" smtClean="0"/>
              <a:t>05/12/25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7CCE3-1F4A-69CB-3B0B-E13528642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6D007-7457-3964-8B3A-AD17BDD5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6B4CA-8EEB-0843-AB46-E6439A4B70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7739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59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CEEA9A-92BA-7671-752E-7E1CAB927C37}"/>
              </a:ext>
            </a:extLst>
          </p:cNvPr>
          <p:cNvSpPr/>
          <p:nvPr userDrawn="1"/>
        </p:nvSpPr>
        <p:spPr>
          <a:xfrm>
            <a:off x="0" y="0"/>
            <a:ext cx="5053914" cy="6858000"/>
          </a:xfrm>
          <a:prstGeom prst="rect">
            <a:avLst/>
          </a:prstGeom>
          <a:solidFill>
            <a:srgbClr val="6D4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5F730-F5AD-3C5A-3CCA-ABFBF6B0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64EA89-9BC2-07BF-78CE-1610C35B98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6B89A-E62F-EEC8-F7AB-1F20E3496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075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gradFill flip="none" rotWithShape="1">
          <a:gsLst>
            <a:gs pos="0">
              <a:srgbClr val="6C94F7"/>
            </a:gs>
            <a:gs pos="84000">
              <a:srgbClr val="6D47E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749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gradFill flip="none" rotWithShape="1">
          <a:gsLst>
            <a:gs pos="18000">
              <a:srgbClr val="6D47EF"/>
            </a:gs>
            <a:gs pos="87000">
              <a:srgbClr val="F8F7F2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807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24000">
              <a:srgbClr val="6C94F7"/>
            </a:gs>
            <a:gs pos="88000">
              <a:srgbClr val="F8F7F2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206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gradFill flip="none" rotWithShape="1">
          <a:gsLst>
            <a:gs pos="0">
              <a:srgbClr val="F7D7C2"/>
            </a:gs>
            <a:gs pos="84000">
              <a:srgbClr val="6D47E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970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7D7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86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rgbClr val="6C9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565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607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solidFill>
          <a:srgbClr val="6D4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7491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solidFill>
          <a:srgbClr val="6D4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D297-BA4F-5A27-38A5-21E6B3DE8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2492" y="2235200"/>
            <a:ext cx="6159579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pic>
        <p:nvPicPr>
          <p:cNvPr id="6" name="Picture 5" descr="A black and purple cubes&#10;&#10;AI-generated content may be incorrect.">
            <a:extLst>
              <a:ext uri="{FF2B5EF4-FFF2-40B4-BE49-F238E27FC236}">
                <a16:creationId xmlns:a16="http://schemas.microsoft.com/office/drawing/2014/main" id="{D5010E37-F00C-D843-1E3F-76A23D057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50681" y="0"/>
            <a:ext cx="617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62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solidFill>
          <a:srgbClr val="6D4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D297-BA4F-5A27-38A5-21E6B3DE8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927" y="3912535"/>
            <a:ext cx="6159579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pic>
        <p:nvPicPr>
          <p:cNvPr id="6" name="Picture 5" descr="A black and purple cubes&#10;&#10;AI-generated content may be incorrect.">
            <a:extLst>
              <a:ext uri="{FF2B5EF4-FFF2-40B4-BE49-F238E27FC236}">
                <a16:creationId xmlns:a16="http://schemas.microsoft.com/office/drawing/2014/main" id="{D5010E37-F00C-D843-1E3F-76A23D057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17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13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solidFill>
          <a:srgbClr val="6D4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D297-BA4F-5A27-38A5-21E6B3DE8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2492" y="2235200"/>
            <a:ext cx="6159579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pic>
        <p:nvPicPr>
          <p:cNvPr id="6" name="Picture 5" descr="A black and purple cubes&#10;&#10;AI-generated content may be incorrect.">
            <a:extLst>
              <a:ext uri="{FF2B5EF4-FFF2-40B4-BE49-F238E27FC236}">
                <a16:creationId xmlns:a16="http://schemas.microsoft.com/office/drawing/2014/main" id="{D5010E37-F00C-D843-1E3F-76A23D057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50681" y="0"/>
            <a:ext cx="6173253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7485EF-881B-B355-567C-3032374E9A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09978" y="2235200"/>
            <a:ext cx="1546633" cy="495108"/>
          </a:xfrm>
          <a:solidFill>
            <a:srgbClr val="6C94F7"/>
          </a:solidFill>
        </p:spPr>
        <p:txBody>
          <a:bodyPr anchor="ctr"/>
          <a:lstStyle>
            <a:lvl1pPr algn="ctr">
              <a:buNone/>
              <a:defRPr sz="1800">
                <a:latin typeface="DM Mono" panose="020B0509040201040103" pitchFamily="49" charset="77"/>
              </a:defRPr>
            </a:lvl1pPr>
            <a:lvl2pPr>
              <a:defRPr sz="1800">
                <a:latin typeface="DM Mono" panose="020B0509040201040103" pitchFamily="49" charset="77"/>
              </a:defRPr>
            </a:lvl2pPr>
            <a:lvl3pPr>
              <a:defRPr sz="1800">
                <a:latin typeface="DM Mono" panose="020B0509040201040103" pitchFamily="49" charset="77"/>
              </a:defRPr>
            </a:lvl3pPr>
            <a:lvl4pPr>
              <a:defRPr sz="1800">
                <a:latin typeface="DM Mono" panose="020B0509040201040103" pitchFamily="49" charset="77"/>
              </a:defRPr>
            </a:lvl4pPr>
            <a:lvl5pPr>
              <a:defRPr sz="1800">
                <a:latin typeface="DM Mono" panose="020B0509040201040103" pitchFamily="49" charset="77"/>
              </a:defRPr>
            </a:lvl5pPr>
          </a:lstStyle>
          <a:p>
            <a:pPr lvl="0"/>
            <a:r>
              <a:rPr lang="en-BR" dirty="0"/>
              <a:t>TAG</a:t>
            </a:r>
          </a:p>
        </p:txBody>
      </p:sp>
    </p:spTree>
    <p:extLst>
      <p:ext uri="{BB962C8B-B14F-4D97-AF65-F5344CB8AC3E}">
        <p14:creationId xmlns:p14="http://schemas.microsoft.com/office/powerpoint/2010/main" val="40835254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bg>
      <p:bgPr>
        <a:solidFill>
          <a:srgbClr val="6D4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D297-BA4F-5A27-38A5-21E6B3DE8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927" y="3912535"/>
            <a:ext cx="6159579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pic>
        <p:nvPicPr>
          <p:cNvPr id="6" name="Picture 5" descr="A black and purple cubes&#10;&#10;AI-generated content may be incorrect.">
            <a:extLst>
              <a:ext uri="{FF2B5EF4-FFF2-40B4-BE49-F238E27FC236}">
                <a16:creationId xmlns:a16="http://schemas.microsoft.com/office/drawing/2014/main" id="{D5010E37-F00C-D843-1E3F-76A23D057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173253" cy="6858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17C833E-2200-FF70-8A79-65C803F70E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3670" y="3912535"/>
            <a:ext cx="1546633" cy="495108"/>
          </a:xfrm>
          <a:solidFill>
            <a:srgbClr val="6C94F7"/>
          </a:solidFill>
        </p:spPr>
        <p:txBody>
          <a:bodyPr anchor="ctr"/>
          <a:lstStyle>
            <a:lvl1pPr algn="ctr">
              <a:buNone/>
              <a:defRPr sz="1800">
                <a:latin typeface="DM Mono" panose="020B0509040201040103" pitchFamily="49" charset="77"/>
              </a:defRPr>
            </a:lvl1pPr>
            <a:lvl2pPr>
              <a:defRPr sz="1800">
                <a:latin typeface="DM Mono" panose="020B0509040201040103" pitchFamily="49" charset="77"/>
              </a:defRPr>
            </a:lvl2pPr>
            <a:lvl3pPr>
              <a:defRPr sz="1800">
                <a:latin typeface="DM Mono" panose="020B0509040201040103" pitchFamily="49" charset="77"/>
              </a:defRPr>
            </a:lvl3pPr>
            <a:lvl4pPr>
              <a:defRPr sz="1800">
                <a:latin typeface="DM Mono" panose="020B0509040201040103" pitchFamily="49" charset="77"/>
              </a:defRPr>
            </a:lvl4pPr>
            <a:lvl5pPr>
              <a:defRPr sz="1800">
                <a:latin typeface="DM Mono" panose="020B0509040201040103" pitchFamily="49" charset="77"/>
              </a:defRPr>
            </a:lvl5pPr>
          </a:lstStyle>
          <a:p>
            <a:pPr lvl="0"/>
            <a:r>
              <a:rPr lang="en-BR" dirty="0"/>
              <a:t>TAG</a:t>
            </a:r>
          </a:p>
        </p:txBody>
      </p:sp>
    </p:spTree>
    <p:extLst>
      <p:ext uri="{BB962C8B-B14F-4D97-AF65-F5344CB8AC3E}">
        <p14:creationId xmlns:p14="http://schemas.microsoft.com/office/powerpoint/2010/main" val="25190481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bg>
      <p:bgPr>
        <a:solidFill>
          <a:srgbClr val="6D4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D297-BA4F-5A27-38A5-21E6B3DE8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927" y="4485503"/>
            <a:ext cx="6159579" cy="1814632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pic>
        <p:nvPicPr>
          <p:cNvPr id="6" name="Picture 5" descr="A black and purple cubes&#10;&#10;AI-generated content may be incorrect.">
            <a:extLst>
              <a:ext uri="{FF2B5EF4-FFF2-40B4-BE49-F238E27FC236}">
                <a16:creationId xmlns:a16="http://schemas.microsoft.com/office/drawing/2014/main" id="{D5010E37-F00C-D843-1E3F-76A23D057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173253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96B1CF-A04F-F760-AF57-C982A6D05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927" y="3927638"/>
            <a:ext cx="6173253" cy="55786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35774479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bg>
      <p:bgPr>
        <a:solidFill>
          <a:srgbClr val="6D4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D297-BA4F-5A27-38A5-21E6B3DE8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927" y="4485503"/>
            <a:ext cx="6159579" cy="1814632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pic>
        <p:nvPicPr>
          <p:cNvPr id="6" name="Picture 5" descr="A black and purple cubes&#10;&#10;AI-generated content may be incorrect.">
            <a:extLst>
              <a:ext uri="{FF2B5EF4-FFF2-40B4-BE49-F238E27FC236}">
                <a16:creationId xmlns:a16="http://schemas.microsoft.com/office/drawing/2014/main" id="{D5010E37-F00C-D843-1E3F-76A23D0578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173253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96B1CF-A04F-F760-AF57-C982A6D05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927" y="3927638"/>
            <a:ext cx="6173253" cy="55786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3200"/>
            </a:lvl2pPr>
            <a:lvl3pPr>
              <a:buNone/>
              <a:defRPr sz="3200"/>
            </a:lvl3pPr>
            <a:lvl4pPr>
              <a:buNone/>
              <a:defRPr sz="3200"/>
            </a:lvl4pPr>
            <a:lvl5pPr>
              <a:buNone/>
              <a:defRPr sz="32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52F9168-AD5B-D7FF-4844-0B4DF947D7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1314" y="3401152"/>
            <a:ext cx="1546633" cy="495108"/>
          </a:xfrm>
          <a:solidFill>
            <a:srgbClr val="6C94F7"/>
          </a:solidFill>
        </p:spPr>
        <p:txBody>
          <a:bodyPr anchor="ctr"/>
          <a:lstStyle>
            <a:lvl1pPr algn="ctr">
              <a:buNone/>
              <a:defRPr sz="1800">
                <a:latin typeface="DM Mono" panose="020B0509040201040103" pitchFamily="49" charset="77"/>
              </a:defRPr>
            </a:lvl1pPr>
            <a:lvl2pPr>
              <a:defRPr sz="1800">
                <a:latin typeface="DM Mono" panose="020B0509040201040103" pitchFamily="49" charset="77"/>
              </a:defRPr>
            </a:lvl2pPr>
            <a:lvl3pPr>
              <a:defRPr sz="1800">
                <a:latin typeface="DM Mono" panose="020B0509040201040103" pitchFamily="49" charset="77"/>
              </a:defRPr>
            </a:lvl3pPr>
            <a:lvl4pPr>
              <a:defRPr sz="1800">
                <a:latin typeface="DM Mono" panose="020B0509040201040103" pitchFamily="49" charset="77"/>
              </a:defRPr>
            </a:lvl4pPr>
            <a:lvl5pPr>
              <a:defRPr sz="1800">
                <a:latin typeface="DM Mono" panose="020B0509040201040103" pitchFamily="49" charset="77"/>
              </a:defRPr>
            </a:lvl5pPr>
          </a:lstStyle>
          <a:p>
            <a:pPr lvl="0"/>
            <a:r>
              <a:rPr lang="en-BR" dirty="0"/>
              <a:t>TAG</a:t>
            </a:r>
          </a:p>
        </p:txBody>
      </p:sp>
    </p:spTree>
    <p:extLst>
      <p:ext uri="{BB962C8B-B14F-4D97-AF65-F5344CB8AC3E}">
        <p14:creationId xmlns:p14="http://schemas.microsoft.com/office/powerpoint/2010/main" val="37944542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solidFill>
          <a:srgbClr val="311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1000">
              <a:srgbClr val="6D47EF"/>
            </a:gs>
            <a:gs pos="73000">
              <a:srgbClr val="311377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E99D7-6923-E33E-69BE-BAF0B2E9C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0232A-D9BD-9C9B-9CF2-8094153EA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E69BC-0FA8-A211-6E85-9F7E580A7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DM Mono" panose="020B0509040201040103" pitchFamily="49" charset="77"/>
              </a:defRPr>
            </a:lvl1pPr>
          </a:lstStyle>
          <a:p>
            <a:fld id="{DB4321E8-7BA5-364E-845A-60D5D0B10828}" type="datetimeFigureOut">
              <a:rPr lang="en-BR" smtClean="0"/>
              <a:pPr/>
              <a:t>05/12/25</a:t>
            </a:fld>
            <a:endParaRPr lang="en-BR">
              <a:latin typeface="DM Mono" panose="020B0509040201040103" pitchFamily="49" charset="77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D0A15-59EC-3946-398D-5DCC8A69D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DM Mono" panose="020B0509040201040103" pitchFamily="49" charset="77"/>
              </a:defRPr>
            </a:lvl1pPr>
          </a:lstStyle>
          <a:p>
            <a:endParaRPr lang="en-BR">
              <a:latin typeface="DM Mono" panose="020B0509040201040103" pitchFamily="49" charset="7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60253-BCAD-0594-5347-020E66F1F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7320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DM Mono" panose="020B0509040201040103" pitchFamily="49" charset="77"/>
              </a:defRPr>
            </a:lvl1pPr>
          </a:lstStyle>
          <a:p>
            <a:fld id="{8AE6B4CA-8EEB-0843-AB46-E6439A4B7024}" type="slidenum">
              <a:rPr lang="en-BR" smtClean="0"/>
              <a:pPr/>
              <a:t>‹#›</a:t>
            </a:fld>
            <a:endParaRPr lang="en-BR">
              <a:latin typeface="DM Mono" panose="020B0509040201040103" pitchFamily="49" charset="77"/>
            </a:endParaRPr>
          </a:p>
        </p:txBody>
      </p:sp>
      <p:pic>
        <p:nvPicPr>
          <p:cNvPr id="7" name="Picture 6" descr="A white and black logo&#10;&#10;AI-generated content may be incorrect.">
            <a:extLst>
              <a:ext uri="{FF2B5EF4-FFF2-40B4-BE49-F238E27FC236}">
                <a16:creationId xmlns:a16="http://schemas.microsoft.com/office/drawing/2014/main" id="{E9DCA3B9-48D5-78F5-05D1-80396EE62DBE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972800" y="287123"/>
            <a:ext cx="842214" cy="15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9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75" r:id="rId9"/>
    <p:sldLayoutId id="2147483657" r:id="rId10"/>
    <p:sldLayoutId id="2147483658" r:id="rId11"/>
    <p:sldLayoutId id="2147483674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6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Instrument Sans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kern="1200">
          <a:solidFill>
            <a:schemeClr val="bg1"/>
          </a:solidFill>
          <a:latin typeface="Instrument Sans" pitchFamily="2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400" kern="1200">
          <a:solidFill>
            <a:schemeClr val="bg1"/>
          </a:solidFill>
          <a:latin typeface="Instrument Sans" pitchFamily="2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400" kern="1200">
          <a:solidFill>
            <a:schemeClr val="bg1"/>
          </a:solidFill>
          <a:latin typeface="Instrument Sans" pitchFamily="2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400" kern="1200">
          <a:solidFill>
            <a:schemeClr val="bg1"/>
          </a:solidFill>
          <a:latin typeface="Instrument Sans" pitchFamily="2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400" kern="1200">
          <a:solidFill>
            <a:schemeClr val="bg1"/>
          </a:solidFill>
          <a:latin typeface="Instrument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DC797-32C2-84BE-83ED-029908AD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cubes&#10;&#10;AI-generated content may be incorrect.">
            <a:extLst>
              <a:ext uri="{FF2B5EF4-FFF2-40B4-BE49-F238E27FC236}">
                <a16:creationId xmlns:a16="http://schemas.microsoft.com/office/drawing/2014/main" id="{4A2E0EB7-149B-8CC7-DC9F-F810D2D676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6024014" y="0"/>
            <a:ext cx="6167986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4FE29D-E156-3D32-93EA-EEB612F1A2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422900" y="4083050"/>
            <a:ext cx="6769100" cy="2387600"/>
          </a:xfrm>
        </p:spPr>
        <p:txBody>
          <a:bodyPr>
            <a:normAutofit/>
          </a:bodyPr>
          <a:lstStyle/>
          <a:p>
            <a:r>
              <a:rPr lang="en-BR" sz="6000" dirty="0"/>
              <a:t>E o novo mercado bilionário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F668C-5603-B167-20D1-23C5A3A6D290}"/>
              </a:ext>
            </a:extLst>
          </p:cNvPr>
          <p:cNvSpPr txBox="1"/>
          <p:nvPr/>
        </p:nvSpPr>
        <p:spPr>
          <a:xfrm>
            <a:off x="5560108" y="3835496"/>
            <a:ext cx="3752365" cy="495108"/>
          </a:xfrm>
          <a:prstGeom prst="rect">
            <a:avLst/>
          </a:prstGeom>
          <a:solidFill>
            <a:srgbClr val="6D47EF"/>
          </a:solidFill>
        </p:spPr>
        <p:txBody>
          <a:bodyPr wrap="none" lIns="288000" tIns="108000" rIns="288000" bIns="108000" rtlCol="0">
            <a:spAutoFit/>
          </a:bodyPr>
          <a:lstStyle/>
          <a:p>
            <a:r>
              <a:rPr lang="en-BR" dirty="0">
                <a:solidFill>
                  <a:schemeClr val="bg1"/>
                </a:solidFill>
                <a:latin typeface="DM Mono" panose="020B0509040201040103" pitchFamily="49" charset="77"/>
              </a:rPr>
              <a:t>INTELIGÊNCIA ARTIFICIAL</a:t>
            </a:r>
          </a:p>
        </p:txBody>
      </p:sp>
      <p:pic>
        <p:nvPicPr>
          <p:cNvPr id="4" name="Picture Placeholder 17" descr="A person in a suit with his arms crossed&#10;&#10;AI-generated content may be incorrect.">
            <a:extLst>
              <a:ext uri="{FF2B5EF4-FFF2-40B4-BE49-F238E27FC236}">
                <a16:creationId xmlns:a16="http://schemas.microsoft.com/office/drawing/2014/main" id="{613F1900-74DC-EBE1-10AE-DF36B9BC50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82" t="2041" r="12126" b="12049"/>
          <a:stretch>
            <a:fillRect/>
          </a:stretch>
        </p:blipFill>
        <p:spPr>
          <a:xfrm>
            <a:off x="-1" y="0"/>
            <a:ext cx="4495801" cy="50228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F269D4-EB36-7382-F8EE-804272C7945B}"/>
              </a:ext>
            </a:extLst>
          </p:cNvPr>
          <p:cNvSpPr/>
          <p:nvPr/>
        </p:nvSpPr>
        <p:spPr>
          <a:xfrm>
            <a:off x="-1" y="5022850"/>
            <a:ext cx="4495801" cy="1835150"/>
          </a:xfrm>
          <a:prstGeom prst="rect">
            <a:avLst/>
          </a:prstGeom>
          <a:solidFill>
            <a:srgbClr val="6D4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B11F4B-8257-FECE-98E0-555A30453638}"/>
              </a:ext>
            </a:extLst>
          </p:cNvPr>
          <p:cNvSpPr txBox="1">
            <a:spLocks/>
          </p:cNvSpPr>
          <p:nvPr/>
        </p:nvSpPr>
        <p:spPr>
          <a:xfrm>
            <a:off x="225424" y="5276850"/>
            <a:ext cx="4156075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Instrument Sans" pitchFamily="2" charset="0"/>
                <a:ea typeface="+mj-ea"/>
                <a:cs typeface="+mj-cs"/>
              </a:defRPr>
            </a:lvl1pPr>
          </a:lstStyle>
          <a:p>
            <a:r>
              <a:rPr lang="en-BR" sz="2400" b="1" dirty="0"/>
              <a:t>André </a:t>
            </a:r>
            <a:r>
              <a:rPr lang="en-BR" sz="2400" b="1" dirty="0">
                <a:solidFill>
                  <a:schemeClr val="bg1">
                    <a:alpha val="70000"/>
                  </a:schemeClr>
                </a:solidFill>
              </a:rPr>
              <a:t>Baltieri</a:t>
            </a:r>
          </a:p>
          <a:p>
            <a:pPr>
              <a:lnSpc>
                <a:spcPct val="100000"/>
              </a:lnSpc>
            </a:pPr>
            <a:r>
              <a:rPr lang="en-BR" sz="1400" dirty="0"/>
              <a:t>13x Microsoft MVP</a:t>
            </a:r>
          </a:p>
          <a:p>
            <a:pPr>
              <a:lnSpc>
                <a:spcPct val="100000"/>
              </a:lnSpc>
            </a:pPr>
            <a:r>
              <a:rPr lang="en-BR" sz="1400" dirty="0"/>
              <a:t>@andrebaltieri</a:t>
            </a:r>
            <a:endParaRPr lang="en-BR" sz="4000" dirty="0"/>
          </a:p>
        </p:txBody>
      </p:sp>
    </p:spTree>
    <p:extLst>
      <p:ext uri="{BB962C8B-B14F-4D97-AF65-F5344CB8AC3E}">
        <p14:creationId xmlns:p14="http://schemas.microsoft.com/office/powerpoint/2010/main" val="226301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021FA-6601-2B7B-D1DD-7591FF81E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28BA-E53F-024E-B515-8FD7E556D2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BR" sz="6000" dirty="0"/>
              <a:t>Panorama geral da IA</a:t>
            </a:r>
          </a:p>
        </p:txBody>
      </p:sp>
    </p:spTree>
    <p:extLst>
      <p:ext uri="{BB962C8B-B14F-4D97-AF65-F5344CB8AC3E}">
        <p14:creationId xmlns:p14="http://schemas.microsoft.com/office/powerpoint/2010/main" val="2426028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2ED8C-D9B9-68F2-A1D1-4368A2D5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black rectangles&#10;&#10;AI-generated content may be incorrect.">
            <a:extLst>
              <a:ext uri="{FF2B5EF4-FFF2-40B4-BE49-F238E27FC236}">
                <a16:creationId xmlns:a16="http://schemas.microsoft.com/office/drawing/2014/main" id="{03FDF203-A7B0-BDE8-6DF2-91CACC68C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66896" y="0"/>
            <a:ext cx="6176427" cy="6858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23998F3-13EA-87CF-8599-F90FDB4DE68E}"/>
              </a:ext>
            </a:extLst>
          </p:cNvPr>
          <p:cNvGrpSpPr/>
          <p:nvPr/>
        </p:nvGrpSpPr>
        <p:grpSpPr>
          <a:xfrm>
            <a:off x="2435120" y="2057229"/>
            <a:ext cx="7321759" cy="2743543"/>
            <a:chOff x="2435120" y="2951009"/>
            <a:chExt cx="7321759" cy="274354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0A4C279-2587-1DB9-E7CC-0BD1C23FF1A8}"/>
                </a:ext>
              </a:extLst>
            </p:cNvPr>
            <p:cNvGrpSpPr/>
            <p:nvPr/>
          </p:nvGrpSpPr>
          <p:grpSpPr>
            <a:xfrm>
              <a:off x="2435121" y="2951009"/>
              <a:ext cx="7321758" cy="955982"/>
              <a:chOff x="1942203" y="3284757"/>
              <a:chExt cx="7321758" cy="95598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5A8744E-B1D9-20DA-1291-4265FA25170C}"/>
                  </a:ext>
                </a:extLst>
              </p:cNvPr>
              <p:cNvGrpSpPr/>
              <p:nvPr/>
            </p:nvGrpSpPr>
            <p:grpSpPr>
              <a:xfrm>
                <a:off x="1942203" y="3310367"/>
                <a:ext cx="2040160" cy="930372"/>
                <a:chOff x="988892" y="3673533"/>
                <a:chExt cx="2040160" cy="930372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7FA8CA8E-0B6C-5C81-24A8-6EDAA2613D52}"/>
                    </a:ext>
                  </a:extLst>
                </p:cNvPr>
                <p:cNvSpPr/>
                <p:nvPr/>
              </p:nvSpPr>
              <p:spPr>
                <a:xfrm>
                  <a:off x="988892" y="3673533"/>
                  <a:ext cx="2040159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bg1">
                          <a:alpha val="70000"/>
                        </a:schemeClr>
                      </a:solidFill>
                      <a:latin typeface="Instrument Sans" pitchFamily="2" charset="0"/>
                    </a:rPr>
                    <a:t>U$ 252,3 BI</a:t>
                  </a:r>
                  <a:endParaRPr lang="en-US" sz="3200" b="1" dirty="0">
                    <a:solidFill>
                      <a:schemeClr val="bg1">
                        <a:alpha val="70000"/>
                      </a:schemeClr>
                    </a:solidFill>
                    <a:latin typeface="Instrument Sans" pitchFamily="2" charset="0"/>
                  </a:endParaRP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36ED84A-9CFA-FDDA-BF47-25F3464051AD}"/>
                    </a:ext>
                  </a:extLst>
                </p:cNvPr>
                <p:cNvSpPr/>
                <p:nvPr/>
              </p:nvSpPr>
              <p:spPr>
                <a:xfrm>
                  <a:off x="988893" y="4080685"/>
                  <a:ext cx="2040159" cy="523220"/>
                </a:xfrm>
                <a:prstGeom prst="rect">
                  <a:avLst/>
                </a:prstGeom>
                <a:solidFill>
                  <a:srgbClr val="7746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BR" sz="1000" dirty="0">
                      <a:latin typeface="DM Mono" panose="020B0509040201040103" pitchFamily="49" charset="77"/>
                    </a:rPr>
                    <a:t>INVESTIMENTO PRIVADO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342C868-F420-2189-F489-DC8D2359D376}"/>
                  </a:ext>
                </a:extLst>
              </p:cNvPr>
              <p:cNvGrpSpPr/>
              <p:nvPr/>
            </p:nvGrpSpPr>
            <p:grpSpPr>
              <a:xfrm>
                <a:off x="4583002" y="3310367"/>
                <a:ext cx="2040160" cy="930372"/>
                <a:chOff x="3629691" y="3673533"/>
                <a:chExt cx="2040160" cy="930372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F123CCA-7E73-B28F-68E3-2ED6C14B1943}"/>
                    </a:ext>
                  </a:extLst>
                </p:cNvPr>
                <p:cNvSpPr/>
                <p:nvPr/>
              </p:nvSpPr>
              <p:spPr>
                <a:xfrm>
                  <a:off x="3629691" y="3673533"/>
                  <a:ext cx="2040159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bg1">
                          <a:alpha val="70000"/>
                        </a:schemeClr>
                      </a:solidFill>
                      <a:latin typeface="Instrument Sans" pitchFamily="2" charset="0"/>
                    </a:rPr>
                    <a:t>U$ 33,9 BI</a:t>
                  </a:r>
                  <a:endParaRPr lang="en-US" sz="3600" b="1" dirty="0">
                    <a:solidFill>
                      <a:schemeClr val="bg1">
                        <a:alpha val="70000"/>
                      </a:schemeClr>
                    </a:solidFill>
                    <a:latin typeface="Instrument Sans" pitchFamily="2" charset="0"/>
                  </a:endParaRP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654351-F480-6F94-E3CC-F366785B1351}"/>
                    </a:ext>
                  </a:extLst>
                </p:cNvPr>
                <p:cNvSpPr/>
                <p:nvPr/>
              </p:nvSpPr>
              <p:spPr>
                <a:xfrm>
                  <a:off x="3629692" y="4080685"/>
                  <a:ext cx="2040159" cy="523220"/>
                </a:xfrm>
                <a:prstGeom prst="rect">
                  <a:avLst/>
                </a:prstGeom>
                <a:solidFill>
                  <a:srgbClr val="7746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BR" sz="1000" dirty="0">
                      <a:latin typeface="DM Mono" panose="020B0509040201040103" pitchFamily="49" charset="77"/>
                    </a:rPr>
                    <a:t>IA GENERATIVA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9334E1B-7929-6459-56AC-7CE44A93F172}"/>
                  </a:ext>
                </a:extLst>
              </p:cNvPr>
              <p:cNvGrpSpPr/>
              <p:nvPr/>
            </p:nvGrpSpPr>
            <p:grpSpPr>
              <a:xfrm>
                <a:off x="7223801" y="3284757"/>
                <a:ext cx="2040160" cy="930372"/>
                <a:chOff x="3629691" y="3673533"/>
                <a:chExt cx="2040160" cy="930372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A26D1C1-079B-D34A-C0CA-5D7F1C5AC312}"/>
                    </a:ext>
                  </a:extLst>
                </p:cNvPr>
                <p:cNvSpPr/>
                <p:nvPr/>
              </p:nvSpPr>
              <p:spPr>
                <a:xfrm>
                  <a:off x="3629691" y="3673533"/>
                  <a:ext cx="2040159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bg1">
                          <a:alpha val="70000"/>
                        </a:schemeClr>
                      </a:solidFill>
                      <a:latin typeface="Instrument Sans" pitchFamily="2" charset="0"/>
                    </a:rPr>
                    <a:t>U$ 1,5 TRI</a:t>
                  </a:r>
                  <a:endParaRPr lang="en-US" sz="3200" b="1" dirty="0">
                    <a:solidFill>
                      <a:schemeClr val="bg1">
                        <a:alpha val="70000"/>
                      </a:schemeClr>
                    </a:solidFill>
                    <a:latin typeface="Instrument Sans" pitchFamily="2" charset="0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9E505F3-E948-E9BF-2117-0621ECFDC943}"/>
                    </a:ext>
                  </a:extLst>
                </p:cNvPr>
                <p:cNvSpPr/>
                <p:nvPr/>
              </p:nvSpPr>
              <p:spPr>
                <a:xfrm>
                  <a:off x="3629692" y="4080685"/>
                  <a:ext cx="2040159" cy="523220"/>
                </a:xfrm>
                <a:prstGeom prst="rect">
                  <a:avLst/>
                </a:prstGeom>
                <a:solidFill>
                  <a:srgbClr val="7746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BR" sz="1000" dirty="0">
                      <a:latin typeface="DM Mono" panose="020B0509040201040103" pitchFamily="49" charset="77"/>
                    </a:rPr>
                    <a:t>GASTOS GLOBAIS</a:t>
                  </a:r>
                </a:p>
              </p:txBody>
            </p:sp>
          </p:grpSp>
        </p:grpSp>
        <p:sp>
          <p:nvSpPr>
            <p:cNvPr id="2" name="Text Placeholder 9">
              <a:extLst>
                <a:ext uri="{FF2B5EF4-FFF2-40B4-BE49-F238E27FC236}">
                  <a16:creationId xmlns:a16="http://schemas.microsoft.com/office/drawing/2014/main" id="{AEDFC4D2-AFAD-D394-246E-40540257C080}"/>
                </a:ext>
              </a:extLst>
            </p:cNvPr>
            <p:cNvSpPr txBox="1">
              <a:spLocks/>
            </p:cNvSpPr>
            <p:nvPr/>
          </p:nvSpPr>
          <p:spPr>
            <a:xfrm>
              <a:off x="2435120" y="4151922"/>
              <a:ext cx="2040159" cy="968569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BR" sz="1200" dirty="0"/>
                <a:t>Segundo o Stanford HAI, o investimento privado em IA em 2025 foi pesado.</a:t>
              </a:r>
            </a:p>
          </p:txBody>
        </p:sp>
        <p:sp>
          <p:nvSpPr>
            <p:cNvPr id="3" name="Text Placeholder 12">
              <a:extLst>
                <a:ext uri="{FF2B5EF4-FFF2-40B4-BE49-F238E27FC236}">
                  <a16:creationId xmlns:a16="http://schemas.microsoft.com/office/drawing/2014/main" id="{05B1608F-EBBE-F73D-0F9E-56E4B011384F}"/>
                </a:ext>
              </a:extLst>
            </p:cNvPr>
            <p:cNvSpPr txBox="1">
              <a:spLocks/>
            </p:cNvSpPr>
            <p:nvPr/>
          </p:nvSpPr>
          <p:spPr>
            <a:xfrm>
              <a:off x="5075920" y="4151922"/>
              <a:ext cx="2040159" cy="154263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BR" sz="1200" dirty="0"/>
                <a:t>A </a:t>
              </a:r>
              <a:r>
                <a:rPr lang="en-BR" sz="1200" b="1" dirty="0"/>
                <a:t>IA Generativa</a:t>
              </a:r>
              <a:r>
                <a:rPr lang="en-BR" sz="1200" dirty="0"/>
                <a:t> lidera a expansão com este total de investimentos entre 2024 e 2025.</a:t>
              </a:r>
            </a:p>
          </p:txBody>
        </p:sp>
        <p:sp>
          <p:nvSpPr>
            <p:cNvPr id="7" name="Text Placeholder 13">
              <a:extLst>
                <a:ext uri="{FF2B5EF4-FFF2-40B4-BE49-F238E27FC236}">
                  <a16:creationId xmlns:a16="http://schemas.microsoft.com/office/drawing/2014/main" id="{FF3F264D-426C-2498-5D1B-EC623EC37A0E}"/>
                </a:ext>
              </a:extLst>
            </p:cNvPr>
            <p:cNvSpPr txBox="1">
              <a:spLocks/>
            </p:cNvSpPr>
            <p:nvPr/>
          </p:nvSpPr>
          <p:spPr>
            <a:xfrm>
              <a:off x="7716719" y="4119270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BR" sz="1200"/>
                <a:t>Gastos globais com IA até o fim de 2025 segundo projeção do Gartner</a:t>
              </a:r>
              <a:endParaRPr lang="en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7788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EB8D9-78D7-B3EC-61D0-8F54B55D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5B3D34-C276-FFD5-A564-BB8F056F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U$ 120 BI focados em IA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C0E2B3-0D98-ADAD-B154-EBF9339E4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987425"/>
            <a:ext cx="5640388" cy="487362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BR" sz="2400" b="1" dirty="0">
                <a:solidFill>
                  <a:schemeClr val="bg1">
                    <a:alpha val="70000"/>
                  </a:schemeClr>
                </a:solidFill>
              </a:rPr>
              <a:t>Migração</a:t>
            </a:r>
            <a:r>
              <a:rPr lang="en-BR" sz="2400" dirty="0"/>
              <a:t> de investimento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BR" sz="1800" dirty="0"/>
              <a:t>Infraestrutura de IA</a:t>
            </a:r>
            <a:br>
              <a:rPr lang="en-BR" sz="1800" dirty="0"/>
            </a:br>
            <a:r>
              <a:rPr lang="en-BR" sz="1800" dirty="0"/>
              <a:t>Dados sintéticos</a:t>
            </a:r>
            <a:br>
              <a:rPr lang="en-BR" sz="1800" dirty="0"/>
            </a:br>
            <a:r>
              <a:rPr lang="en-BR" sz="1800" dirty="0"/>
              <a:t>Segurança</a:t>
            </a:r>
            <a:br>
              <a:rPr lang="en-BR" sz="1800" dirty="0"/>
            </a:br>
            <a:r>
              <a:rPr lang="en-BR" sz="1800" dirty="0"/>
              <a:t>Agentes autônomos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B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BR" sz="2400" dirty="0"/>
              <a:t>Infraestrutura </a:t>
            </a:r>
            <a:r>
              <a:rPr lang="en-BR" sz="2400" b="1" dirty="0">
                <a:solidFill>
                  <a:schemeClr val="bg1">
                    <a:alpha val="70000"/>
                  </a:schemeClr>
                </a:solidFill>
              </a:rPr>
              <a:t>crescendo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BR" sz="1800" dirty="0"/>
              <a:t>Data centers avançados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BR" sz="1800" dirty="0"/>
              <a:t>Energia limpa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BR" sz="1800" dirty="0"/>
              <a:t>Redes de alta performance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BR" sz="1800" dirty="0"/>
              <a:t>Frameworks de governança</a:t>
            </a:r>
            <a:endParaRPr lang="en-BR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B1A3D-8DC4-5E71-A62D-221ADC5D2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79773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0530-20BE-F7FF-8625-C9E008DA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7BFBC5-58BF-EDE9-9B7C-5D0AAE4A8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R$ 13 BI aqui no Brasil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508299-AA34-675B-C9BE-D12318CFD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987425"/>
            <a:ext cx="5640388" cy="48736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BR" sz="2400" b="1" dirty="0">
                <a:solidFill>
                  <a:schemeClr val="bg1">
                    <a:alpha val="70000"/>
                  </a:schemeClr>
                </a:solidFill>
              </a:rPr>
              <a:t>R$ 4 bi</a:t>
            </a:r>
            <a:endParaRPr lang="en-BR" sz="2400" dirty="0"/>
          </a:p>
          <a:p>
            <a:pPr marL="457200" lvl="1" indent="0">
              <a:lnSpc>
                <a:spcPct val="110000"/>
              </a:lnSpc>
              <a:buNone/>
            </a:pPr>
            <a:r>
              <a:rPr lang="en-BR" sz="1800" dirty="0"/>
              <a:t>Plano Nacional de IA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BR" sz="1800" dirty="0"/>
          </a:p>
          <a:p>
            <a:pPr>
              <a:lnSpc>
                <a:spcPct val="100000"/>
              </a:lnSpc>
            </a:pPr>
            <a:r>
              <a:rPr lang="en-BR" sz="2400" b="1" dirty="0">
                <a:solidFill>
                  <a:schemeClr val="bg1">
                    <a:alpha val="70000"/>
                  </a:schemeClr>
                </a:solidFill>
              </a:rPr>
              <a:t>R$ 0,56 bi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BR" sz="1800" dirty="0"/>
              <a:t>Mercado de Data Centers para IA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BR" sz="2400" dirty="0"/>
          </a:p>
          <a:p>
            <a:pPr>
              <a:lnSpc>
                <a:spcPct val="100000"/>
              </a:lnSpc>
            </a:pPr>
            <a:r>
              <a:rPr lang="en-BR" sz="2400" b="1" dirty="0">
                <a:solidFill>
                  <a:schemeClr val="bg1">
                    <a:alpha val="70000"/>
                  </a:schemeClr>
                </a:solidFill>
              </a:rPr>
              <a:t>R$ 3 bi</a:t>
            </a:r>
          </a:p>
          <a:p>
            <a:pPr lvl="1">
              <a:lnSpc>
                <a:spcPct val="100000"/>
              </a:lnSpc>
            </a:pPr>
            <a:r>
              <a:rPr lang="en-US" sz="1800" dirty="0" err="1"/>
              <a:t>Crescimento</a:t>
            </a:r>
            <a:r>
              <a:rPr lang="en-US" sz="1800" dirty="0"/>
              <a:t> </a:t>
            </a:r>
            <a:r>
              <a:rPr lang="en-US" sz="1800" dirty="0" err="1"/>
              <a:t>projetado</a:t>
            </a:r>
            <a:r>
              <a:rPr lang="en-US" sz="1800" dirty="0"/>
              <a:t> do mercado </a:t>
            </a:r>
            <a:r>
              <a:rPr lang="en-US" sz="1800" dirty="0" err="1"/>
              <a:t>brasileiro</a:t>
            </a:r>
            <a:r>
              <a:rPr lang="en-US" sz="1800" dirty="0"/>
              <a:t> de IA </a:t>
            </a:r>
            <a:r>
              <a:rPr lang="en-US" sz="1800" dirty="0" err="1"/>
              <a:t>até</a:t>
            </a:r>
            <a:r>
              <a:rPr lang="en-US" sz="1800" dirty="0"/>
              <a:t> 2023 era de</a:t>
            </a:r>
          </a:p>
          <a:p>
            <a:pPr lvl="1">
              <a:lnSpc>
                <a:spcPct val="100000"/>
              </a:lnSpc>
            </a:pPr>
            <a:endParaRPr lang="en-BR" sz="2400" dirty="0"/>
          </a:p>
          <a:p>
            <a:pPr>
              <a:lnSpc>
                <a:spcPct val="100000"/>
              </a:lnSpc>
            </a:pPr>
            <a:r>
              <a:rPr lang="en-BR" sz="2400" b="1" dirty="0">
                <a:solidFill>
                  <a:schemeClr val="bg1">
                    <a:alpha val="70000"/>
                  </a:schemeClr>
                </a:solidFill>
              </a:rPr>
              <a:t>R$ 11,6 bi</a:t>
            </a:r>
          </a:p>
          <a:p>
            <a:pPr lvl="1">
              <a:lnSpc>
                <a:spcPct val="100000"/>
              </a:lnSpc>
            </a:pPr>
            <a:r>
              <a:rPr lang="en-US" sz="1800" dirty="0" err="1"/>
              <a:t>Crescimento</a:t>
            </a:r>
            <a:r>
              <a:rPr lang="en-US" sz="1800" dirty="0"/>
              <a:t> </a:t>
            </a:r>
            <a:r>
              <a:rPr lang="en-US" sz="1800" dirty="0" err="1"/>
              <a:t>projetado</a:t>
            </a:r>
            <a:r>
              <a:rPr lang="en-US" sz="1800" dirty="0"/>
              <a:t> do mercado </a:t>
            </a:r>
            <a:r>
              <a:rPr lang="en-US" sz="1800" dirty="0" err="1"/>
              <a:t>brasileiro</a:t>
            </a:r>
            <a:r>
              <a:rPr lang="en-US" sz="1800" dirty="0"/>
              <a:t> de IA </a:t>
            </a:r>
            <a:r>
              <a:rPr lang="en-US" sz="1800" dirty="0" err="1"/>
              <a:t>até</a:t>
            </a:r>
            <a:r>
              <a:rPr lang="en-US" sz="1800" dirty="0"/>
              <a:t> 2030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BR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7F598-77D6-6155-75A2-980512AB8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1311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6ED1C0-4EAB-DEF6-D4BB-220059EE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b="1" dirty="0"/>
              <a:t>Cenário </a:t>
            </a:r>
            <a:r>
              <a:rPr lang="en-BR" b="1" dirty="0">
                <a:solidFill>
                  <a:schemeClr val="bg1">
                    <a:alpha val="70000"/>
                  </a:schemeClr>
                </a:solidFill>
              </a:rPr>
              <a:t>nacional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5D78C0-AA6B-9662-6D81-7A615698D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Vantagens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9F9B37-88AF-368B-6387-21135A999E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1">
              <a:lnSpc>
                <a:spcPct val="100000"/>
              </a:lnSpc>
            </a:pPr>
            <a:r>
              <a:rPr lang="en-US" sz="2200" dirty="0"/>
              <a:t>Forte base </a:t>
            </a:r>
            <a:r>
              <a:rPr lang="en-US" sz="2200" dirty="0" err="1"/>
              <a:t>acadêmica</a:t>
            </a:r>
            <a:r>
              <a:rPr lang="en-US" sz="2200" dirty="0"/>
              <a:t> </a:t>
            </a:r>
            <a:r>
              <a:rPr lang="en-US" sz="2200" dirty="0" err="1"/>
              <a:t>em</a:t>
            </a:r>
            <a:r>
              <a:rPr lang="en-US" sz="2200" dirty="0"/>
              <a:t> IA (USP, UFMG, ITA)</a:t>
            </a:r>
            <a:br>
              <a:rPr lang="en-US" sz="2200" dirty="0"/>
            </a:b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en-US" sz="2200" dirty="0" err="1"/>
              <a:t>Ecossistema</a:t>
            </a:r>
            <a:r>
              <a:rPr lang="en-US" sz="2200" dirty="0"/>
              <a:t> </a:t>
            </a:r>
            <a:r>
              <a:rPr lang="en-US" sz="2200" dirty="0" err="1"/>
              <a:t>crescente</a:t>
            </a:r>
            <a:r>
              <a:rPr lang="en-US" sz="2200" dirty="0"/>
              <a:t> de comunidades, hackathons, startups</a:t>
            </a:r>
            <a:br>
              <a:rPr lang="en-US" sz="2200" dirty="0"/>
            </a:b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en-US" sz="2200" dirty="0" err="1"/>
              <a:t>Setores</a:t>
            </a:r>
            <a:r>
              <a:rPr lang="en-US" sz="2200" dirty="0"/>
              <a:t> </a:t>
            </a:r>
            <a:r>
              <a:rPr lang="en-US" sz="2200" dirty="0" err="1"/>
              <a:t>tradicionais</a:t>
            </a:r>
            <a:r>
              <a:rPr lang="en-US" sz="2200" dirty="0"/>
              <a:t> com alto </a:t>
            </a:r>
            <a:r>
              <a:rPr lang="en-US" sz="2200" dirty="0" err="1"/>
              <a:t>potencial</a:t>
            </a:r>
            <a:r>
              <a:rPr lang="en-US" sz="2200" dirty="0"/>
              <a:t> de </a:t>
            </a:r>
            <a:r>
              <a:rPr lang="en-US" sz="2200" dirty="0" err="1"/>
              <a:t>ganho</a:t>
            </a:r>
            <a:r>
              <a:rPr lang="en-US" sz="2200" dirty="0"/>
              <a:t>: </a:t>
            </a:r>
            <a:r>
              <a:rPr lang="en-US" sz="2200" dirty="0" err="1"/>
              <a:t>agro</a:t>
            </a:r>
            <a:r>
              <a:rPr lang="en-US" sz="2200" dirty="0"/>
              <a:t>, </a:t>
            </a:r>
            <a:r>
              <a:rPr lang="en-US" sz="2200" dirty="0" err="1"/>
              <a:t>saúde</a:t>
            </a:r>
            <a:r>
              <a:rPr lang="en-US" sz="2200" dirty="0"/>
              <a:t>, </a:t>
            </a:r>
            <a:r>
              <a:rPr lang="en-US" sz="2200" dirty="0" err="1"/>
              <a:t>finanças</a:t>
            </a:r>
            <a:endParaRPr lang="en-US" sz="2200" dirty="0"/>
          </a:p>
          <a:p>
            <a:endParaRPr lang="en-BR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BF7F4E-3777-9B42-CC25-D55C97470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BR" dirty="0"/>
              <a:t>Desvantagens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C14CC9F-25D6-ED99-E211-502306C5454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lvl="1">
              <a:lnSpc>
                <a:spcPct val="110000"/>
              </a:lnSpc>
            </a:pPr>
            <a:r>
              <a:rPr lang="en-US" sz="2200" dirty="0" err="1"/>
              <a:t>Infraestrutura</a:t>
            </a:r>
            <a:r>
              <a:rPr lang="en-US" sz="2200" dirty="0"/>
              <a:t> </a:t>
            </a:r>
            <a:r>
              <a:rPr lang="en-US" sz="2200" dirty="0" err="1"/>
              <a:t>limitada</a:t>
            </a:r>
            <a:r>
              <a:rPr lang="en-US" sz="2200" dirty="0"/>
              <a:t> de data centers.</a:t>
            </a:r>
            <a:br>
              <a:rPr lang="en-US" sz="2200" dirty="0"/>
            </a:br>
            <a:endParaRPr lang="en-US" sz="2200" dirty="0"/>
          </a:p>
          <a:p>
            <a:pPr lvl="1">
              <a:lnSpc>
                <a:spcPct val="110000"/>
              </a:lnSpc>
            </a:pPr>
            <a:r>
              <a:rPr lang="en-US" sz="2200" dirty="0" err="1"/>
              <a:t>Custo</a:t>
            </a:r>
            <a:r>
              <a:rPr lang="en-US" sz="2200" dirty="0"/>
              <a:t> alto de </a:t>
            </a:r>
            <a:r>
              <a:rPr lang="en-US" sz="2200" dirty="0" err="1"/>
              <a:t>energia</a:t>
            </a:r>
            <a:r>
              <a:rPr lang="en-US" sz="2200" dirty="0"/>
              <a:t>.</a:t>
            </a:r>
          </a:p>
          <a:p>
            <a:pPr lvl="1">
              <a:lnSpc>
                <a:spcPct val="110000"/>
              </a:lnSpc>
            </a:pPr>
            <a:br>
              <a:rPr lang="en-US" sz="2200" dirty="0"/>
            </a:br>
            <a:r>
              <a:rPr lang="en-US" sz="2200" dirty="0" err="1"/>
              <a:t>Burocracia</a:t>
            </a:r>
            <a:r>
              <a:rPr lang="en-US" sz="2200" dirty="0"/>
              <a:t> </a:t>
            </a:r>
            <a:r>
              <a:rPr lang="en-US" sz="2200" dirty="0" err="1"/>
              <a:t>regulatória</a:t>
            </a:r>
            <a:r>
              <a:rPr lang="en-US" sz="2200" dirty="0"/>
              <a:t> e </a:t>
            </a:r>
            <a:r>
              <a:rPr lang="en-US" sz="2200" dirty="0" err="1"/>
              <a:t>baixa</a:t>
            </a:r>
            <a:r>
              <a:rPr lang="en-US" sz="2200" dirty="0"/>
              <a:t> </a:t>
            </a:r>
            <a:r>
              <a:rPr lang="en-US" sz="2200" dirty="0" err="1"/>
              <a:t>maturidade</a:t>
            </a:r>
            <a:r>
              <a:rPr lang="en-US" sz="2200" dirty="0"/>
              <a:t> de deep tech.</a:t>
            </a:r>
          </a:p>
          <a:p>
            <a:pPr lvl="1">
              <a:lnSpc>
                <a:spcPct val="110000"/>
              </a:lnSpc>
            </a:pPr>
            <a:br>
              <a:rPr lang="en-US" sz="2200" dirty="0"/>
            </a:br>
            <a:r>
              <a:rPr lang="en-US" sz="2200" dirty="0"/>
              <a:t>Investimentos </a:t>
            </a:r>
            <a:r>
              <a:rPr lang="en-US" sz="2200" dirty="0" err="1"/>
              <a:t>ainda</a:t>
            </a:r>
            <a:r>
              <a:rPr lang="en-US" sz="2200" dirty="0"/>
              <a:t> </a:t>
            </a:r>
            <a:r>
              <a:rPr lang="en-US" sz="2200" dirty="0" err="1"/>
              <a:t>tímidos</a:t>
            </a:r>
            <a:r>
              <a:rPr lang="en-US" sz="2200" dirty="0"/>
              <a:t> (</a:t>
            </a:r>
            <a:r>
              <a:rPr lang="en-US" sz="2200" dirty="0" err="1"/>
              <a:t>menos</a:t>
            </a:r>
            <a:r>
              <a:rPr lang="en-US" sz="2200" dirty="0"/>
              <a:t> de 1% do volume global). </a:t>
            </a:r>
          </a:p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326199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9E66884-FD5B-73BB-0806-533EAE9A52FE}"/>
              </a:ext>
            </a:extLst>
          </p:cNvPr>
          <p:cNvGrpSpPr/>
          <p:nvPr/>
        </p:nvGrpSpPr>
        <p:grpSpPr>
          <a:xfrm>
            <a:off x="3641188" y="2506981"/>
            <a:ext cx="4909625" cy="1844038"/>
            <a:chOff x="2283656" y="1835332"/>
            <a:chExt cx="4909625" cy="1844038"/>
          </a:xfrm>
        </p:grpSpPr>
        <p:sp>
          <p:nvSpPr>
            <p:cNvPr id="2" name="Title 7">
              <a:extLst>
                <a:ext uri="{FF2B5EF4-FFF2-40B4-BE49-F238E27FC236}">
                  <a16:creationId xmlns:a16="http://schemas.microsoft.com/office/drawing/2014/main" id="{12DA2D63-18D2-0CAB-5BC8-E6E5CBF3B6D0}"/>
                </a:ext>
              </a:extLst>
            </p:cNvPr>
            <p:cNvSpPr txBox="1">
              <a:spLocks/>
            </p:cNvSpPr>
            <p:nvPr/>
          </p:nvSpPr>
          <p:spPr>
            <a:xfrm>
              <a:off x="2377441" y="1835332"/>
              <a:ext cx="4722054" cy="1169126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bg1"/>
                  </a:solidFill>
                  <a:latin typeface="Instrument Sans" pitchFamily="2" charset="0"/>
                  <a:ea typeface="+mj-ea"/>
                  <a:cs typeface="+mj-cs"/>
                </a:defRPr>
              </a:lvl1pPr>
            </a:lstStyle>
            <a:p>
              <a:pPr algn="ctr"/>
              <a:r>
                <a:rPr lang="en-BR" b="1"/>
                <a:t>NVIDIA CHEGOU A 5 TRILHÕES</a:t>
              </a:r>
              <a:endParaRPr lang="en-BR" b="1" dirty="0"/>
            </a:p>
          </p:txBody>
        </p:sp>
        <p:sp>
          <p:nvSpPr>
            <p:cNvPr id="3" name="Text Placeholder 10">
              <a:extLst>
                <a:ext uri="{FF2B5EF4-FFF2-40B4-BE49-F238E27FC236}">
                  <a16:creationId xmlns:a16="http://schemas.microsoft.com/office/drawing/2014/main" id="{CD8012BC-A430-1578-3664-6646F28CE571}"/>
                </a:ext>
              </a:extLst>
            </p:cNvPr>
            <p:cNvSpPr txBox="1">
              <a:spLocks/>
            </p:cNvSpPr>
            <p:nvPr/>
          </p:nvSpPr>
          <p:spPr>
            <a:xfrm>
              <a:off x="2283656" y="3149835"/>
              <a:ext cx="4909625" cy="529535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BR" b="1"/>
                <a:t>DE VALOR DE MERCADO</a:t>
              </a:r>
              <a:endParaRPr lang="en-BR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1042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4A243-DE87-D4C9-7A90-559BD452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B43E-25F2-AA6A-EFBD-C36E19A19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BR" sz="6000" dirty="0"/>
              <a:t>Estado atual da IA</a:t>
            </a:r>
          </a:p>
        </p:txBody>
      </p:sp>
    </p:spTree>
    <p:extLst>
      <p:ext uri="{BB962C8B-B14F-4D97-AF65-F5344CB8AC3E}">
        <p14:creationId xmlns:p14="http://schemas.microsoft.com/office/powerpoint/2010/main" val="3830811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BE0C-C729-A779-E264-D23B6BFA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Agents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B52924-D781-8DF1-A6A2-DCC6B656C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734" y="987425"/>
            <a:ext cx="5832654" cy="4873625"/>
          </a:xfrm>
        </p:spPr>
        <p:txBody>
          <a:bodyPr anchor="ctr">
            <a:normAutofit/>
          </a:bodyPr>
          <a:lstStyle/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Fim do prompt + </a:t>
            </a:r>
            <a:r>
              <a:rPr lang="en-US" sz="2400" dirty="0" err="1"/>
              <a:t>resposta</a:t>
            </a:r>
            <a:endParaRPr lang="en-US" sz="2400" dirty="0"/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Chegada</a:t>
            </a:r>
            <a:r>
              <a:rPr lang="en-US" sz="2400" dirty="0"/>
              <a:t> dos Agents</a:t>
            </a:r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Orquestram</a:t>
            </a:r>
            <a:r>
              <a:rPr lang="en-US" sz="2400" dirty="0"/>
              <a:t> </a:t>
            </a:r>
            <a:r>
              <a:rPr lang="en-US" sz="2400" dirty="0" err="1"/>
              <a:t>tarefas</a:t>
            </a:r>
            <a:endParaRPr lang="en-US" sz="2400" dirty="0"/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Usam</a:t>
            </a:r>
            <a:r>
              <a:rPr lang="en-US" sz="2400" dirty="0"/>
              <a:t> ferramentas </a:t>
            </a:r>
            <a:r>
              <a:rPr lang="en-US" sz="2400" dirty="0" err="1"/>
              <a:t>externas</a:t>
            </a:r>
            <a:endParaRPr lang="en-US" sz="2400" dirty="0"/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Gerenciam</a:t>
            </a:r>
            <a:r>
              <a:rPr lang="en-US" sz="2400" dirty="0"/>
              <a:t> </a:t>
            </a:r>
            <a:r>
              <a:rPr lang="en-US" sz="2400" dirty="0" err="1"/>
              <a:t>estado</a:t>
            </a:r>
            <a:r>
              <a:rPr lang="en-US" sz="2400" dirty="0"/>
              <a:t> e </a:t>
            </a:r>
            <a:r>
              <a:rPr lang="en-US" sz="2400" dirty="0" err="1"/>
              <a:t>memória</a:t>
            </a:r>
            <a:endParaRPr lang="en-US" sz="2400" dirty="0"/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Executam</a:t>
            </a:r>
            <a:r>
              <a:rPr lang="en-US" sz="2400" dirty="0"/>
              <a:t> workflows </a:t>
            </a:r>
            <a:r>
              <a:rPr lang="en-US" sz="2400" dirty="0" err="1"/>
              <a:t>completos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20680-CEE7-0C80-9C9D-82356AA28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Em 2025, </a:t>
            </a:r>
            <a:r>
              <a:rPr lang="en-US" dirty="0" err="1"/>
              <a:t>agentes</a:t>
            </a:r>
            <a:r>
              <a:rPr lang="en-US" dirty="0"/>
              <a:t> </a:t>
            </a:r>
            <a:r>
              <a:rPr lang="en-US" dirty="0" err="1"/>
              <a:t>tornam</a:t>
            </a:r>
            <a:r>
              <a:rPr lang="en-US" dirty="0"/>
              <a:t>-se corporate-ready e </a:t>
            </a:r>
            <a:r>
              <a:rPr lang="en-US" dirty="0" err="1"/>
              <a:t>acessíveis</a:t>
            </a:r>
            <a:r>
              <a:rPr lang="en-US" dirty="0"/>
              <a:t> para startups e </a:t>
            </a:r>
            <a:r>
              <a:rPr lang="en-US" dirty="0" err="1"/>
              <a:t>empresas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O </a:t>
            </a:r>
            <a:r>
              <a:rPr lang="en-US" dirty="0" err="1"/>
              <a:t>foco</a:t>
            </a:r>
            <a:r>
              <a:rPr lang="en-US" dirty="0"/>
              <a:t> </a:t>
            </a:r>
            <a:r>
              <a:rPr lang="en-US" dirty="0" err="1"/>
              <a:t>migra</a:t>
            </a:r>
            <a:r>
              <a:rPr lang="en-US" dirty="0"/>
              <a:t> de “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inteligente</a:t>
            </a:r>
            <a:r>
              <a:rPr lang="en-US" dirty="0"/>
              <a:t>” para </a:t>
            </a:r>
            <a:r>
              <a:rPr lang="en-US" dirty="0" err="1"/>
              <a:t>ecossistemas</a:t>
            </a:r>
            <a:r>
              <a:rPr lang="en-US" dirty="0"/>
              <a:t> de </a:t>
            </a:r>
            <a:r>
              <a:rPr lang="en-US" dirty="0" err="1"/>
              <a:t>ação</a:t>
            </a:r>
            <a:r>
              <a:rPr lang="en-US" dirty="0"/>
              <a:t>, </a:t>
            </a:r>
            <a:r>
              <a:rPr lang="en-US" dirty="0" err="1"/>
              <a:t>governança</a:t>
            </a:r>
            <a:r>
              <a:rPr lang="en-US" dirty="0"/>
              <a:t> e </a:t>
            </a:r>
            <a:r>
              <a:rPr lang="en-US" dirty="0" err="1"/>
              <a:t>integração</a:t>
            </a:r>
            <a:r>
              <a:rPr lang="en-US" dirty="0"/>
              <a:t>.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467141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DD4C-722F-CE30-3B10-5E0B8E03C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1422-6304-350F-63DC-E72F1D43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Agents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5C8281-12B6-BBE9-9F9E-14597FEC4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400" b="1" dirty="0"/>
              <a:t>O </a:t>
            </a:r>
            <a:r>
              <a:rPr lang="en-US" sz="2400" b="1" dirty="0" err="1"/>
              <a:t>investimento</a:t>
            </a:r>
            <a:r>
              <a:rPr lang="en-US" sz="2400" b="1" dirty="0"/>
              <a:t> </a:t>
            </a:r>
            <a:r>
              <a:rPr lang="en-US" sz="2400" b="1" dirty="0" err="1"/>
              <a:t>migra</a:t>
            </a:r>
            <a:r>
              <a:rPr lang="en-US" sz="2400" b="1" dirty="0"/>
              <a:t> para:</a:t>
            </a:r>
          </a:p>
          <a:p>
            <a:pPr lvl="1"/>
            <a:r>
              <a:rPr lang="en-US" sz="2000" dirty="0" err="1"/>
              <a:t>Plataformas</a:t>
            </a:r>
            <a:r>
              <a:rPr lang="en-US" sz="2000" dirty="0"/>
              <a:t> de </a:t>
            </a:r>
            <a:r>
              <a:rPr lang="en-US" sz="2000" dirty="0" err="1"/>
              <a:t>agentes</a:t>
            </a:r>
            <a:endParaRPr lang="en-US" sz="2000" dirty="0"/>
          </a:p>
          <a:p>
            <a:pPr lvl="1"/>
            <a:r>
              <a:rPr lang="en-US" sz="2000" dirty="0" err="1"/>
              <a:t>Infraestrutura</a:t>
            </a:r>
            <a:r>
              <a:rPr lang="en-US" sz="2000" dirty="0"/>
              <a:t> de </a:t>
            </a:r>
            <a:r>
              <a:rPr lang="en-US" sz="2000" dirty="0" err="1"/>
              <a:t>estado</a:t>
            </a:r>
            <a:endParaRPr lang="en-US" sz="2000" dirty="0"/>
          </a:p>
          <a:p>
            <a:pPr lvl="1"/>
            <a:r>
              <a:rPr lang="en-US" sz="2000" dirty="0" err="1"/>
              <a:t>Conectores</a:t>
            </a:r>
            <a:endParaRPr lang="en-US" sz="2000" dirty="0"/>
          </a:p>
          <a:p>
            <a:pPr lvl="1"/>
            <a:r>
              <a:rPr lang="en-US" sz="2000" dirty="0"/>
              <a:t>Serviços de “agent-as-a-service”</a:t>
            </a:r>
            <a:endParaRPr lang="en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DE5EA-38D6-C6C1-B6A3-C7C9DB9EA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Agentes</a:t>
            </a:r>
            <a:r>
              <a:rPr lang="en-US" dirty="0"/>
              <a:t> </a:t>
            </a:r>
            <a:r>
              <a:rPr lang="en-US" dirty="0" err="1"/>
              <a:t>permitem</a:t>
            </a:r>
            <a:r>
              <a:rPr lang="en-US" dirty="0"/>
              <a:t>:</a:t>
            </a:r>
          </a:p>
          <a:p>
            <a:pPr lvl="1"/>
            <a:r>
              <a:rPr lang="en-US" sz="1100" dirty="0" err="1"/>
              <a:t>Eficiência</a:t>
            </a:r>
            <a:r>
              <a:rPr lang="en-US" sz="1100" dirty="0"/>
              <a:t> </a:t>
            </a:r>
            <a:r>
              <a:rPr lang="en-US" sz="1100" dirty="0" err="1"/>
              <a:t>operacional</a:t>
            </a:r>
            <a:endParaRPr lang="en-US" sz="1100" dirty="0"/>
          </a:p>
          <a:p>
            <a:pPr lvl="1"/>
            <a:r>
              <a:rPr lang="en-US" sz="1100" dirty="0" err="1"/>
              <a:t>Automações</a:t>
            </a:r>
            <a:r>
              <a:rPr lang="en-US" sz="1100" dirty="0"/>
              <a:t> </a:t>
            </a:r>
            <a:r>
              <a:rPr lang="en-US" sz="1100" dirty="0" err="1"/>
              <a:t>complexas</a:t>
            </a:r>
            <a:r>
              <a:rPr lang="en-US" sz="1100" dirty="0"/>
              <a:t> de </a:t>
            </a:r>
            <a:r>
              <a:rPr lang="en-US" sz="1100" dirty="0" err="1"/>
              <a:t>ponta</a:t>
            </a:r>
            <a:r>
              <a:rPr lang="en-US" sz="1100" dirty="0"/>
              <a:t> a </a:t>
            </a:r>
            <a:r>
              <a:rPr lang="en-US" sz="1100" dirty="0" err="1"/>
              <a:t>ponta</a:t>
            </a:r>
            <a:endParaRPr lang="en-US" sz="1100" dirty="0"/>
          </a:p>
          <a:p>
            <a:pPr lvl="1"/>
            <a:r>
              <a:rPr lang="en-US" sz="1100" dirty="0" err="1"/>
              <a:t>Novos</a:t>
            </a:r>
            <a:r>
              <a:rPr lang="en-US" sz="1100" dirty="0"/>
              <a:t> </a:t>
            </a:r>
            <a:r>
              <a:rPr lang="en-US" sz="1100" dirty="0" err="1"/>
              <a:t>modelos</a:t>
            </a:r>
            <a:r>
              <a:rPr lang="en-US" sz="1100" dirty="0"/>
              <a:t> de </a:t>
            </a:r>
            <a:r>
              <a:rPr lang="en-US" sz="1100" dirty="0" err="1"/>
              <a:t>produto</a:t>
            </a:r>
            <a:r>
              <a:rPr lang="en-US" sz="1100" dirty="0"/>
              <a:t> e </a:t>
            </a:r>
            <a:r>
              <a:rPr lang="en-US" sz="1100" dirty="0" err="1"/>
              <a:t>atendimento</a:t>
            </a:r>
            <a:endParaRPr lang="en-BR" sz="1100" dirty="0"/>
          </a:p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912109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E0F9DC0-A6BB-DF95-9C5F-FE937A150E01}"/>
              </a:ext>
            </a:extLst>
          </p:cNvPr>
          <p:cNvGrpSpPr/>
          <p:nvPr/>
        </p:nvGrpSpPr>
        <p:grpSpPr>
          <a:xfrm>
            <a:off x="3175751" y="2187186"/>
            <a:ext cx="5840499" cy="2483629"/>
            <a:chOff x="3087939" y="1835332"/>
            <a:chExt cx="5840499" cy="2483629"/>
          </a:xfrm>
        </p:grpSpPr>
        <p:sp>
          <p:nvSpPr>
            <p:cNvPr id="2" name="Title 6">
              <a:extLst>
                <a:ext uri="{FF2B5EF4-FFF2-40B4-BE49-F238E27FC236}">
                  <a16:creationId xmlns:a16="http://schemas.microsoft.com/office/drawing/2014/main" id="{EF01C7FC-C6E6-24DC-EA2F-04E5397D01EC}"/>
                </a:ext>
              </a:extLst>
            </p:cNvPr>
            <p:cNvSpPr txBox="1">
              <a:spLocks/>
            </p:cNvSpPr>
            <p:nvPr/>
          </p:nvSpPr>
          <p:spPr>
            <a:xfrm>
              <a:off x="3087939" y="1835332"/>
              <a:ext cx="5840499" cy="1169126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bg1"/>
                  </a:solidFill>
                  <a:latin typeface="Instrument Sans" pitchFamily="2" charset="0"/>
                  <a:ea typeface="+mj-ea"/>
                  <a:cs typeface="+mj-cs"/>
                </a:defRPr>
              </a:lvl1pPr>
            </a:lstStyle>
            <a:p>
              <a:pPr algn="ctr"/>
              <a:r>
                <a:rPr lang="en-BR" b="1"/>
                <a:t>OS DESAFIOS CONTINUAM</a:t>
              </a:r>
              <a:endParaRPr lang="en-BR" b="1" dirty="0"/>
            </a:p>
          </p:txBody>
        </p:sp>
        <p:sp>
          <p:nvSpPr>
            <p:cNvPr id="3" name="Text Placeholder 9">
              <a:extLst>
                <a:ext uri="{FF2B5EF4-FFF2-40B4-BE49-F238E27FC236}">
                  <a16:creationId xmlns:a16="http://schemas.microsoft.com/office/drawing/2014/main" id="{6A81633D-185B-F71D-6CAE-D9A5BC612AEB}"/>
                </a:ext>
              </a:extLst>
            </p:cNvPr>
            <p:cNvSpPr txBox="1">
              <a:spLocks/>
            </p:cNvSpPr>
            <p:nvPr/>
          </p:nvSpPr>
          <p:spPr>
            <a:xfrm>
              <a:off x="3087939" y="3149835"/>
              <a:ext cx="5840499" cy="1169126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 err="1"/>
                <a:t>Governança</a:t>
              </a:r>
              <a:r>
                <a:rPr lang="en-US" sz="2000" b="1" dirty="0"/>
                <a:t>, </a:t>
              </a:r>
              <a:r>
                <a:rPr lang="en-US" sz="2000" b="1" dirty="0" err="1"/>
                <a:t>latência</a:t>
              </a:r>
              <a:r>
                <a:rPr lang="en-US" sz="2000" b="1" dirty="0"/>
                <a:t>, </a:t>
              </a:r>
              <a:r>
                <a:rPr lang="en-US" sz="2000" b="1" dirty="0" err="1"/>
                <a:t>custo</a:t>
              </a:r>
              <a:r>
                <a:rPr lang="en-US" sz="2000" b="1" dirty="0"/>
                <a:t>, </a:t>
              </a:r>
              <a:r>
                <a:rPr lang="en-US" sz="2000" b="1" dirty="0" err="1"/>
                <a:t>segurança</a:t>
              </a:r>
              <a:r>
                <a:rPr lang="en-US" sz="2000" b="1" dirty="0"/>
                <a:t>, </a:t>
              </a:r>
              <a:r>
                <a:rPr lang="en-US" sz="2000" b="1" dirty="0" err="1"/>
                <a:t>qualidade</a:t>
              </a:r>
              <a:r>
                <a:rPr lang="en-US" sz="2000" b="1" dirty="0"/>
                <a:t> da </a:t>
              </a:r>
              <a:r>
                <a:rPr lang="en-US" sz="2000" b="1" dirty="0" err="1"/>
                <a:t>lógica</a:t>
              </a:r>
              <a:r>
                <a:rPr lang="en-US" sz="2000" b="1" dirty="0"/>
                <a:t> do </a:t>
              </a:r>
              <a:r>
                <a:rPr lang="en-US" sz="2000" b="1" dirty="0" err="1"/>
                <a:t>agente</a:t>
              </a:r>
              <a:endParaRPr lang="en-US" sz="2000" b="1" dirty="0"/>
            </a:p>
            <a:p>
              <a:pPr algn="ctr"/>
              <a:endParaRPr lang="en-BR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93467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A7E83-E2C2-4166-B166-0E654D0E3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FA1F4-F907-2BD9-1429-8E68E1557C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BR" sz="6000" dirty="0"/>
              <a:t>O futuro da IA</a:t>
            </a:r>
          </a:p>
        </p:txBody>
      </p:sp>
    </p:spTree>
    <p:extLst>
      <p:ext uri="{BB962C8B-B14F-4D97-AF65-F5344CB8AC3E}">
        <p14:creationId xmlns:p14="http://schemas.microsoft.com/office/powerpoint/2010/main" val="3977124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DE65-7AA4-0A37-7797-EB4035428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Plataforma Corporativa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5115-9962-87EB-4842-50E9D63B4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Conectores</a:t>
            </a: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Observabilidade</a:t>
            </a: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Governança</a:t>
            </a: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Marketplaces de skills</a:t>
            </a:r>
            <a:endParaRPr lang="en-BR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8C574-36D9-DF17-B970-7487FEAF4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partir</a:t>
            </a:r>
            <a:r>
              <a:rPr lang="en-US" dirty="0"/>
              <a:t> de 2026, surge a IA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plataforma</a:t>
            </a:r>
            <a:r>
              <a:rPr lang="en-US" dirty="0"/>
              <a:t> </a:t>
            </a:r>
            <a:r>
              <a:rPr lang="en-US" dirty="0" err="1"/>
              <a:t>corporativa</a:t>
            </a:r>
            <a:r>
              <a:rPr lang="en-US" dirty="0"/>
              <a:t>.</a:t>
            </a:r>
          </a:p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4244974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89AD4-3C73-EC0A-CC39-B0859A10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black rectangles&#10;&#10;AI-generated content may be incorrect.">
            <a:extLst>
              <a:ext uri="{FF2B5EF4-FFF2-40B4-BE49-F238E27FC236}">
                <a16:creationId xmlns:a16="http://schemas.microsoft.com/office/drawing/2014/main" id="{AD3BA5B3-18B7-8ABD-233A-B222D0A5F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66896" y="0"/>
            <a:ext cx="6176427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5EBC768-9C66-13B8-D101-66838DC448FA}"/>
              </a:ext>
            </a:extLst>
          </p:cNvPr>
          <p:cNvSpPr txBox="1">
            <a:spLocks/>
          </p:cNvSpPr>
          <p:nvPr/>
        </p:nvSpPr>
        <p:spPr>
          <a:xfrm>
            <a:off x="2929744" y="1645527"/>
            <a:ext cx="6332512" cy="8175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BR" b="1" dirty="0"/>
              <a:t>PILARES EM 2026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AE36862-40D6-625C-6136-77255F8532D6}"/>
              </a:ext>
            </a:extLst>
          </p:cNvPr>
          <p:cNvGrpSpPr/>
          <p:nvPr/>
        </p:nvGrpSpPr>
        <p:grpSpPr>
          <a:xfrm>
            <a:off x="1114721" y="2984413"/>
            <a:ext cx="9962558" cy="3128936"/>
            <a:chOff x="1193618" y="2692001"/>
            <a:chExt cx="9962558" cy="3128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5564190-7E94-7937-A821-39AA552F7871}"/>
                </a:ext>
              </a:extLst>
            </p:cNvPr>
            <p:cNvSpPr/>
            <p:nvPr/>
          </p:nvSpPr>
          <p:spPr>
            <a:xfrm>
              <a:off x="1193620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CONECTORES CORPORATIVOS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E4EC25-2001-0069-A2C2-945A855BC392}"/>
                </a:ext>
              </a:extLst>
            </p:cNvPr>
            <p:cNvSpPr/>
            <p:nvPr/>
          </p:nvSpPr>
          <p:spPr>
            <a:xfrm>
              <a:off x="3834419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OBSERVABILIDADE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E08301-19B0-13B8-5F94-78D0190CD322}"/>
                </a:ext>
              </a:extLst>
            </p:cNvPr>
            <p:cNvSpPr/>
            <p:nvPr/>
          </p:nvSpPr>
          <p:spPr>
            <a:xfrm>
              <a:off x="6475218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GOVERNANÇA</a:t>
              </a:r>
            </a:p>
          </p:txBody>
        </p:sp>
        <p:sp>
          <p:nvSpPr>
            <p:cNvPr id="2" name="Text Placeholder 9">
              <a:extLst>
                <a:ext uri="{FF2B5EF4-FFF2-40B4-BE49-F238E27FC236}">
                  <a16:creationId xmlns:a16="http://schemas.microsoft.com/office/drawing/2014/main" id="{3FC8B17F-1E66-C45B-4C68-B7ACB3699AED}"/>
                </a:ext>
              </a:extLst>
            </p:cNvPr>
            <p:cNvSpPr txBox="1">
              <a:spLocks/>
            </p:cNvSpPr>
            <p:nvPr/>
          </p:nvSpPr>
          <p:spPr>
            <a:xfrm>
              <a:off x="1193618" y="3472957"/>
              <a:ext cx="2040159" cy="234798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A IA </a:t>
              </a:r>
              <a:r>
                <a:rPr lang="en-US" sz="1200" dirty="0" err="1"/>
                <a:t>acessa</a:t>
              </a:r>
              <a:r>
                <a:rPr lang="en-US" sz="1200" dirty="0"/>
                <a:t> </a:t>
              </a:r>
              <a:r>
                <a:rPr lang="en-US" sz="1200" dirty="0" err="1"/>
                <a:t>diretamente</a:t>
              </a:r>
              <a:r>
                <a:rPr lang="en-US" sz="1200" dirty="0"/>
                <a:t> CRM, ERP, </a:t>
              </a:r>
              <a:r>
                <a:rPr lang="en-US" sz="1200" dirty="0" err="1"/>
                <a:t>bancos</a:t>
              </a:r>
              <a:r>
                <a:rPr lang="en-US" sz="1200" dirty="0"/>
                <a:t> e </a:t>
              </a:r>
              <a:r>
                <a:rPr lang="en-US" sz="1200" dirty="0" err="1"/>
                <a:t>repositórios</a:t>
              </a:r>
              <a:r>
                <a:rPr lang="en-US" sz="1200" dirty="0"/>
                <a:t> </a:t>
              </a:r>
              <a:r>
                <a:rPr lang="en-US" sz="1200" dirty="0" err="1"/>
                <a:t>internos</a:t>
              </a:r>
              <a:r>
                <a:rPr lang="en-US" sz="1200" dirty="0"/>
                <a:t>.</a:t>
              </a:r>
            </a:p>
            <a:p>
              <a:r>
                <a:rPr lang="en-US" sz="1200" dirty="0"/>
                <a:t>IA </a:t>
              </a:r>
              <a:r>
                <a:rPr lang="en-US" sz="1200" dirty="0" err="1"/>
                <a:t>deixa</a:t>
              </a:r>
              <a:r>
                <a:rPr lang="en-US" sz="1200" dirty="0"/>
                <a:t> de ser chatbot e </a:t>
              </a:r>
              <a:r>
                <a:rPr lang="en-US" sz="1200" dirty="0" err="1"/>
                <a:t>torna</a:t>
              </a:r>
              <a:r>
                <a:rPr lang="en-US" sz="1200" dirty="0"/>
                <a:t>-se </a:t>
              </a:r>
              <a:r>
                <a:rPr lang="en-US" sz="1200" dirty="0" err="1"/>
                <a:t>funcionário</a:t>
              </a:r>
              <a:r>
                <a:rPr lang="en-US" sz="1200" dirty="0"/>
                <a:t> digital </a:t>
              </a:r>
              <a:r>
                <a:rPr lang="en-US" sz="1200" dirty="0" err="1"/>
                <a:t>integrado</a:t>
              </a:r>
              <a:r>
                <a:rPr lang="en-US" sz="1200" dirty="0"/>
                <a:t>.</a:t>
              </a:r>
            </a:p>
          </p:txBody>
        </p:sp>
        <p:sp>
          <p:nvSpPr>
            <p:cNvPr id="3" name="Text Placeholder 12">
              <a:extLst>
                <a:ext uri="{FF2B5EF4-FFF2-40B4-BE49-F238E27FC236}">
                  <a16:creationId xmlns:a16="http://schemas.microsoft.com/office/drawing/2014/main" id="{88CFA7AE-1A78-92D2-CB0E-431090F02AB1}"/>
                </a:ext>
              </a:extLst>
            </p:cNvPr>
            <p:cNvSpPr txBox="1">
              <a:spLocks/>
            </p:cNvSpPr>
            <p:nvPr/>
          </p:nvSpPr>
          <p:spPr>
            <a:xfrm>
              <a:off x="3834418" y="3472957"/>
              <a:ext cx="2040159" cy="154263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Telemetria</a:t>
              </a:r>
              <a:r>
                <a:rPr lang="en-US" sz="1200" dirty="0"/>
                <a:t> completa, </a:t>
              </a:r>
              <a:r>
                <a:rPr lang="en-US" sz="1200" dirty="0" err="1"/>
                <a:t>decisões</a:t>
              </a:r>
              <a:r>
                <a:rPr lang="en-US" sz="1200" dirty="0"/>
                <a:t>, </a:t>
              </a:r>
              <a:r>
                <a:rPr lang="en-US" sz="1200" dirty="0" err="1"/>
                <a:t>fluxos</a:t>
              </a:r>
              <a:r>
                <a:rPr lang="en-US" sz="1200" dirty="0"/>
                <a:t>, </a:t>
              </a:r>
              <a:r>
                <a:rPr lang="en-US" sz="1200" dirty="0" err="1"/>
                <a:t>acurácia</a:t>
              </a:r>
              <a:r>
                <a:rPr lang="en-US" sz="1200" dirty="0"/>
                <a:t>, </a:t>
              </a:r>
              <a:r>
                <a:rPr lang="en-US" sz="1200" dirty="0" err="1"/>
                <a:t>custo</a:t>
              </a:r>
              <a:r>
                <a:rPr lang="en-US" sz="1200" dirty="0"/>
                <a:t>, </a:t>
              </a:r>
              <a:r>
                <a:rPr lang="en-US" sz="1200" dirty="0" err="1"/>
                <a:t>falhas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  <p:sp>
          <p:nvSpPr>
            <p:cNvPr id="7" name="Text Placeholder 13">
              <a:extLst>
                <a:ext uri="{FF2B5EF4-FFF2-40B4-BE49-F238E27FC236}">
                  <a16:creationId xmlns:a16="http://schemas.microsoft.com/office/drawing/2014/main" id="{CB86952F-7D91-CFD5-FE27-7E7F6A871AEB}"/>
                </a:ext>
              </a:extLst>
            </p:cNvPr>
            <p:cNvSpPr txBox="1">
              <a:spLocks/>
            </p:cNvSpPr>
            <p:nvPr/>
          </p:nvSpPr>
          <p:spPr>
            <a:xfrm>
              <a:off x="64752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Auditoria, </a:t>
              </a:r>
              <a:r>
                <a:rPr lang="en-US" sz="1200" dirty="0" err="1"/>
                <a:t>privacidade</a:t>
              </a:r>
              <a:r>
                <a:rPr lang="en-US" sz="1200" dirty="0"/>
                <a:t>, </a:t>
              </a:r>
              <a:r>
                <a:rPr lang="en-US" sz="1200" dirty="0" err="1"/>
                <a:t>políticas</a:t>
              </a:r>
              <a:r>
                <a:rPr lang="en-US" sz="1200" dirty="0"/>
                <a:t>, LGPD/GDPR, </a:t>
              </a:r>
              <a:r>
                <a:rPr lang="en-US" sz="1200" dirty="0" err="1"/>
                <a:t>controle</a:t>
              </a:r>
              <a:r>
                <a:rPr lang="en-US" sz="1200" dirty="0"/>
                <a:t> de </a:t>
              </a:r>
              <a:r>
                <a:rPr lang="en-US" sz="1200" dirty="0" err="1"/>
                <a:t>agentes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A1C160-D2AA-19A8-A57C-03E050123527}"/>
                </a:ext>
              </a:extLst>
            </p:cNvPr>
            <p:cNvSpPr/>
            <p:nvPr/>
          </p:nvSpPr>
          <p:spPr>
            <a:xfrm>
              <a:off x="9116017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MARKETPLACE SKILLS</a:t>
              </a:r>
            </a:p>
          </p:txBody>
        </p:sp>
        <p:sp>
          <p:nvSpPr>
            <p:cNvPr id="21" name="Text Placeholder 13">
              <a:extLst>
                <a:ext uri="{FF2B5EF4-FFF2-40B4-BE49-F238E27FC236}">
                  <a16:creationId xmlns:a16="http://schemas.microsoft.com/office/drawing/2014/main" id="{E986A17A-70C6-F76E-248B-C035C2602899}"/>
                </a:ext>
              </a:extLst>
            </p:cNvPr>
            <p:cNvSpPr txBox="1">
              <a:spLocks/>
            </p:cNvSpPr>
            <p:nvPr/>
          </p:nvSpPr>
          <p:spPr>
            <a:xfrm>
              <a:off x="91160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IA modular: </a:t>
              </a:r>
              <a:r>
                <a:rPr lang="en-US" sz="1200" dirty="0" err="1"/>
                <a:t>empresas</a:t>
              </a:r>
              <a:r>
                <a:rPr lang="en-US" sz="1200" dirty="0"/>
                <a:t> </a:t>
              </a:r>
              <a:r>
                <a:rPr lang="en-US" sz="1200" dirty="0" err="1"/>
                <a:t>montam</a:t>
              </a:r>
              <a:r>
                <a:rPr lang="en-US" sz="1200" dirty="0"/>
                <a:t> </a:t>
              </a:r>
              <a:r>
                <a:rPr lang="en-US" sz="1200" dirty="0" err="1"/>
                <a:t>agentes</a:t>
              </a:r>
              <a:r>
                <a:rPr lang="en-US" sz="1200" dirty="0"/>
                <a:t> com </a:t>
              </a:r>
              <a:r>
                <a:rPr lang="en-US" sz="1200" dirty="0" err="1"/>
                <a:t>peças</a:t>
              </a:r>
              <a:r>
                <a:rPr lang="en-US" sz="1200" dirty="0"/>
                <a:t> </a:t>
              </a:r>
              <a:r>
                <a:rPr lang="en-US" sz="1200" dirty="0" err="1"/>
                <a:t>prontas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31710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B56C30A-B0E7-D579-78FD-C1954E6C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Fusão Cloud + IA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4B6CAC5-1DF3-B2F6-62F5-788D3D2E7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Surge o </a:t>
            </a:r>
            <a:r>
              <a:rPr lang="en-US" sz="2400" dirty="0" err="1"/>
              <a:t>pacote</a:t>
            </a:r>
            <a:r>
              <a:rPr lang="en-US" sz="2400" dirty="0"/>
              <a:t> Cloud + AI: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Compute (GPU)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Conectores</a:t>
            </a: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Auditoria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Governança</a:t>
            </a:r>
            <a:endParaRPr lang="en-US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SaaS </a:t>
            </a:r>
            <a:r>
              <a:rPr lang="en-US" sz="2400" dirty="0" err="1"/>
              <a:t>integrado</a:t>
            </a:r>
            <a:r>
              <a:rPr lang="en-US" sz="2400" dirty="0"/>
              <a:t> (Copilot, GPTs)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C519EB-B6F6-F0B1-BB95-6F61F90AE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As </a:t>
            </a:r>
            <a:r>
              <a:rPr lang="en-US" dirty="0" err="1"/>
              <a:t>nuvens</a:t>
            </a:r>
            <a:r>
              <a:rPr lang="en-US" dirty="0"/>
              <a:t> (Microsoft, Amazon, Google) </a:t>
            </a:r>
            <a:r>
              <a:rPr lang="en-US" dirty="0" err="1"/>
              <a:t>perceberam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valor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GPU, e sim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inteligência</a:t>
            </a:r>
            <a:r>
              <a:rPr lang="en-US" dirty="0"/>
              <a:t> </a:t>
            </a:r>
            <a:r>
              <a:rPr lang="en-US" dirty="0" err="1"/>
              <a:t>operável</a:t>
            </a:r>
            <a:r>
              <a:rPr lang="en-US" dirty="0"/>
              <a:t>.</a:t>
            </a:r>
          </a:p>
          <a:p>
            <a:r>
              <a:rPr lang="en-US" dirty="0"/>
              <a:t>O </a:t>
            </a:r>
            <a:r>
              <a:rPr lang="en-US" dirty="0" err="1"/>
              <a:t>produto</a:t>
            </a:r>
            <a:r>
              <a:rPr lang="en-US" dirty="0"/>
              <a:t> final </a:t>
            </a:r>
            <a:r>
              <a:rPr lang="en-US" dirty="0" err="1"/>
              <a:t>deixa</a:t>
            </a:r>
            <a:r>
              <a:rPr lang="en-US" dirty="0"/>
              <a:t> de ser “</a:t>
            </a:r>
            <a:r>
              <a:rPr lang="en-US" dirty="0" err="1"/>
              <a:t>infraestrutura</a:t>
            </a:r>
            <a:r>
              <a:rPr lang="en-US" dirty="0"/>
              <a:t>” e </a:t>
            </a:r>
            <a:r>
              <a:rPr lang="en-US" dirty="0" err="1"/>
              <a:t>passa</a:t>
            </a:r>
            <a:r>
              <a:rPr lang="en-US" dirty="0"/>
              <a:t> a ser </a:t>
            </a:r>
            <a:r>
              <a:rPr lang="en-US" dirty="0" err="1"/>
              <a:t>ecossistema</a:t>
            </a:r>
            <a:r>
              <a:rPr lang="en-US" dirty="0"/>
              <a:t> </a:t>
            </a:r>
            <a:r>
              <a:rPr lang="en-US" dirty="0" err="1"/>
              <a:t>cognitivo</a:t>
            </a:r>
            <a:r>
              <a:rPr lang="en-US" dirty="0"/>
              <a:t>.</a:t>
            </a:r>
          </a:p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684602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C2D02-D02F-082C-6941-D05CD9514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black rectangles&#10;&#10;AI-generated content may be incorrect.">
            <a:extLst>
              <a:ext uri="{FF2B5EF4-FFF2-40B4-BE49-F238E27FC236}">
                <a16:creationId xmlns:a16="http://schemas.microsoft.com/office/drawing/2014/main" id="{A3408A05-7BE0-213F-AE8F-80D5DEDC5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66896" y="0"/>
            <a:ext cx="6176427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8AA734D-E9EE-FE41-8867-1E37A77B5C07}"/>
              </a:ext>
            </a:extLst>
          </p:cNvPr>
          <p:cNvSpPr txBox="1">
            <a:spLocks/>
          </p:cNvSpPr>
          <p:nvPr/>
        </p:nvSpPr>
        <p:spPr>
          <a:xfrm>
            <a:off x="2929744" y="1645527"/>
            <a:ext cx="6332512" cy="8175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BR" b="1" dirty="0"/>
              <a:t>NOVO MODELO DE RECEITA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0A0209-4B10-6109-A1A6-C43B5B87BAEA}"/>
              </a:ext>
            </a:extLst>
          </p:cNvPr>
          <p:cNvGrpSpPr/>
          <p:nvPr/>
        </p:nvGrpSpPr>
        <p:grpSpPr>
          <a:xfrm>
            <a:off x="2435121" y="2984413"/>
            <a:ext cx="7321759" cy="3128936"/>
            <a:chOff x="1193618" y="2692001"/>
            <a:chExt cx="7321759" cy="3128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FF92BE-5104-439B-7E49-9EC03EB8E7F8}"/>
                </a:ext>
              </a:extLst>
            </p:cNvPr>
            <p:cNvSpPr/>
            <p:nvPr/>
          </p:nvSpPr>
          <p:spPr>
            <a:xfrm>
              <a:off x="1193620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TRIPLE C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144DAD-B5BD-CA58-A8F2-0AF55E898510}"/>
                </a:ext>
              </a:extLst>
            </p:cNvPr>
            <p:cNvSpPr/>
            <p:nvPr/>
          </p:nvSpPr>
          <p:spPr>
            <a:xfrm>
              <a:off x="3834419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CONSEQUÊNCIAS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D2A5F5A-B459-7BBB-7718-DD378619566A}"/>
                </a:ext>
              </a:extLst>
            </p:cNvPr>
            <p:cNvSpPr/>
            <p:nvPr/>
          </p:nvSpPr>
          <p:spPr>
            <a:xfrm>
              <a:off x="6475218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NÃO VENDEM MAIS TOKENS</a:t>
              </a:r>
            </a:p>
          </p:txBody>
        </p:sp>
        <p:sp>
          <p:nvSpPr>
            <p:cNvPr id="2" name="Text Placeholder 9">
              <a:extLst>
                <a:ext uri="{FF2B5EF4-FFF2-40B4-BE49-F238E27FC236}">
                  <a16:creationId xmlns:a16="http://schemas.microsoft.com/office/drawing/2014/main" id="{6B7F7083-716E-70C7-D516-49A8DDDCE087}"/>
                </a:ext>
              </a:extLst>
            </p:cNvPr>
            <p:cNvSpPr txBox="1">
              <a:spLocks/>
            </p:cNvSpPr>
            <p:nvPr/>
          </p:nvSpPr>
          <p:spPr>
            <a:xfrm>
              <a:off x="1193618" y="3472957"/>
              <a:ext cx="2040159" cy="234798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b="1" dirty="0"/>
                <a:t>Compute + Cognitive + Compliance</a:t>
              </a:r>
              <a:endParaRPr lang="en-BR" sz="1200" dirty="0"/>
            </a:p>
          </p:txBody>
        </p:sp>
        <p:sp>
          <p:nvSpPr>
            <p:cNvPr id="3" name="Text Placeholder 12">
              <a:extLst>
                <a:ext uri="{FF2B5EF4-FFF2-40B4-BE49-F238E27FC236}">
                  <a16:creationId xmlns:a16="http://schemas.microsoft.com/office/drawing/2014/main" id="{C4D80BA0-A5DA-8BDF-AF5B-B6E0FED8638E}"/>
                </a:ext>
              </a:extLst>
            </p:cNvPr>
            <p:cNvSpPr txBox="1">
              <a:spLocks/>
            </p:cNvSpPr>
            <p:nvPr/>
          </p:nvSpPr>
          <p:spPr>
            <a:xfrm>
              <a:off x="3834418" y="3472957"/>
              <a:ext cx="2040159" cy="154263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Contratos</a:t>
              </a:r>
              <a:r>
                <a:rPr lang="en-US" sz="1200" dirty="0"/>
                <a:t> </a:t>
              </a:r>
              <a:r>
                <a:rPr lang="en-US" sz="1200" dirty="0" err="1"/>
                <a:t>longos</a:t>
              </a:r>
              <a:r>
                <a:rPr lang="en-US" sz="1200" dirty="0"/>
                <a:t> (3–5 </a:t>
              </a:r>
              <a:r>
                <a:rPr lang="en-US" sz="1200" dirty="0" err="1"/>
                <a:t>anos</a:t>
              </a:r>
              <a:r>
                <a:rPr lang="en-US" sz="1200" dirty="0"/>
                <a:t>)</a:t>
              </a:r>
            </a:p>
            <a:p>
              <a:r>
                <a:rPr lang="en-US" sz="1200" dirty="0"/>
                <a:t>ARPU </a:t>
              </a:r>
              <a:r>
                <a:rPr lang="en-US" sz="1200" dirty="0" err="1"/>
                <a:t>altíssimo</a:t>
              </a:r>
              <a:endParaRPr lang="en-US" sz="1200" dirty="0"/>
            </a:p>
            <a:p>
              <a:r>
                <a:rPr lang="en-US" sz="1200" dirty="0"/>
                <a:t>Lock-in </a:t>
              </a:r>
              <a:r>
                <a:rPr lang="en-US" sz="1200" dirty="0" err="1"/>
                <a:t>técnico</a:t>
              </a:r>
              <a:r>
                <a:rPr lang="en-US" sz="1200" dirty="0"/>
                <a:t> e </a:t>
              </a:r>
              <a:r>
                <a:rPr lang="en-US" sz="1200" dirty="0" err="1"/>
                <a:t>econômico</a:t>
              </a:r>
              <a:endParaRPr lang="en-US" sz="1200" dirty="0"/>
            </a:p>
            <a:p>
              <a:r>
                <a:rPr lang="en-US" sz="1200" dirty="0" err="1"/>
                <a:t>Previsibilidade</a:t>
              </a:r>
              <a:r>
                <a:rPr lang="en-US" sz="1200" dirty="0"/>
                <a:t> para </a:t>
              </a:r>
              <a:r>
                <a:rPr lang="en-US" sz="1200" dirty="0" err="1"/>
                <a:t>fornecedores</a:t>
              </a:r>
              <a:r>
                <a:rPr lang="en-US" sz="1200" dirty="0"/>
                <a:t> e </a:t>
              </a:r>
              <a:r>
                <a:rPr lang="en-US" sz="1200" dirty="0" err="1"/>
                <a:t>clientes</a:t>
              </a:r>
              <a:endParaRPr lang="en-BR" sz="1200" dirty="0"/>
            </a:p>
          </p:txBody>
        </p:sp>
        <p:sp>
          <p:nvSpPr>
            <p:cNvPr id="7" name="Text Placeholder 13">
              <a:extLst>
                <a:ext uri="{FF2B5EF4-FFF2-40B4-BE49-F238E27FC236}">
                  <a16:creationId xmlns:a16="http://schemas.microsoft.com/office/drawing/2014/main" id="{A1F3B9D7-CF08-4E06-2EC1-7ECCA6C0F418}"/>
                </a:ext>
              </a:extLst>
            </p:cNvPr>
            <p:cNvSpPr txBox="1">
              <a:spLocks/>
            </p:cNvSpPr>
            <p:nvPr/>
          </p:nvSpPr>
          <p:spPr>
            <a:xfrm>
              <a:off x="64752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Governança</a:t>
              </a:r>
              <a:endParaRPr lang="en-US" sz="1200" dirty="0"/>
            </a:p>
            <a:p>
              <a:r>
                <a:rPr lang="en-US" sz="1200" dirty="0" err="1"/>
                <a:t>Integração</a:t>
              </a:r>
              <a:endParaRPr lang="en-US" sz="1200" dirty="0"/>
            </a:p>
            <a:p>
              <a:r>
                <a:rPr lang="en-US" sz="1200" dirty="0" err="1"/>
                <a:t>Produtividade</a:t>
              </a:r>
              <a:endParaRPr lang="en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68323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B144F-4DDD-5836-E8B4-73BFD504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24551EE-2E22-6633-089D-7D66C346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Economia Cognitiva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6C55906-EF24-D858-F7E9-9F53CDDC1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As </a:t>
            </a:r>
            <a:r>
              <a:rPr lang="en-US" sz="2400" dirty="0" err="1"/>
              <a:t>empresas</a:t>
            </a:r>
            <a:r>
              <a:rPr lang="en-US" sz="2400" dirty="0"/>
              <a:t> </a:t>
            </a:r>
            <a:r>
              <a:rPr lang="en-US" sz="2400" dirty="0" err="1"/>
              <a:t>passam</a:t>
            </a:r>
            <a:r>
              <a:rPr lang="en-US" sz="2400" dirty="0"/>
              <a:t> a </a:t>
            </a:r>
            <a:r>
              <a:rPr lang="en-US" sz="2400" dirty="0" err="1"/>
              <a:t>contratar</a:t>
            </a:r>
            <a:r>
              <a:rPr lang="en-US" sz="2400" dirty="0"/>
              <a:t> IA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inclui</a:t>
            </a:r>
            <a:r>
              <a:rPr lang="en-US" sz="2400" dirty="0"/>
              <a:t> a </a:t>
            </a:r>
            <a:r>
              <a:rPr lang="en-US" sz="2400" dirty="0" err="1"/>
              <a:t>infraestrutura</a:t>
            </a:r>
            <a:r>
              <a:rPr lang="en-US" sz="2400" dirty="0"/>
              <a:t>, </a:t>
            </a:r>
            <a:r>
              <a:rPr lang="en-US" sz="2400" dirty="0" err="1"/>
              <a:t>não</a:t>
            </a:r>
            <a:r>
              <a:rPr lang="en-US" sz="2400" dirty="0"/>
              <a:t> o </a:t>
            </a:r>
            <a:r>
              <a:rPr lang="en-US" sz="2400" dirty="0" err="1"/>
              <a:t>contrário</a:t>
            </a:r>
            <a:r>
              <a:rPr lang="en-US" sz="2400" dirty="0"/>
              <a:t>.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 err="1"/>
              <a:t>Todas</a:t>
            </a:r>
            <a:r>
              <a:rPr lang="en-US" sz="2400" dirty="0"/>
              <a:t> as </a:t>
            </a:r>
            <a:r>
              <a:rPr lang="en-US" sz="2400" dirty="0" err="1"/>
              <a:t>nuvens</a:t>
            </a:r>
            <a:r>
              <a:rPr lang="en-US" sz="2400" dirty="0"/>
              <a:t> </a:t>
            </a:r>
            <a:r>
              <a:rPr lang="en-US" sz="2400" dirty="0" err="1"/>
              <a:t>convergem</a:t>
            </a:r>
            <a:r>
              <a:rPr lang="en-US" sz="2400" dirty="0"/>
              <a:t> para o </a:t>
            </a:r>
            <a:r>
              <a:rPr lang="en-US" sz="2400" dirty="0" err="1"/>
              <a:t>mesmo</a:t>
            </a:r>
            <a:r>
              <a:rPr lang="en-US" sz="2400" dirty="0"/>
              <a:t> </a:t>
            </a:r>
            <a:r>
              <a:rPr lang="en-US" sz="2400" dirty="0" err="1"/>
              <a:t>destino</a:t>
            </a:r>
            <a:r>
              <a:rPr lang="en-US" sz="2400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sz="1800" dirty="0" err="1"/>
              <a:t>Pacotes</a:t>
            </a:r>
            <a:r>
              <a:rPr lang="en-US" sz="1800" dirty="0"/>
              <a:t> </a:t>
            </a:r>
            <a:r>
              <a:rPr lang="en-US" sz="1800" dirty="0" err="1"/>
              <a:t>integrados</a:t>
            </a:r>
            <a:r>
              <a:rPr lang="en-US" sz="1800" dirty="0"/>
              <a:t> Cloud + AI com alto ARPU.</a:t>
            </a:r>
            <a:endParaRPr lang="en-BR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4525DF-6B6E-4CA7-D8AE-E1C821AD4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 IA </a:t>
            </a:r>
            <a:r>
              <a:rPr lang="en-US" dirty="0" err="1"/>
              <a:t>vira</a:t>
            </a:r>
            <a:r>
              <a:rPr lang="en-US" dirty="0"/>
              <a:t> um </a:t>
            </a:r>
            <a:r>
              <a:rPr lang="en-US" dirty="0" err="1"/>
              <a:t>utilitário</a:t>
            </a:r>
            <a:r>
              <a:rPr lang="en-US" dirty="0"/>
              <a:t> </a:t>
            </a:r>
            <a:r>
              <a:rPr lang="en-US" dirty="0" err="1"/>
              <a:t>corporativo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telecom, </a:t>
            </a:r>
            <a:r>
              <a:rPr lang="en-US" dirty="0" err="1"/>
              <a:t>porém</a:t>
            </a:r>
            <a:r>
              <a:rPr lang="en-US" dirty="0"/>
              <a:t> com </a:t>
            </a:r>
            <a:r>
              <a:rPr lang="en-US" dirty="0" err="1"/>
              <a:t>margens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maiores</a:t>
            </a:r>
            <a:r>
              <a:rPr lang="en-US" dirty="0"/>
              <a:t>.</a:t>
            </a:r>
          </a:p>
          <a:p>
            <a:r>
              <a:rPr lang="en-US" dirty="0"/>
              <a:t>GPU se </a:t>
            </a:r>
            <a:r>
              <a:rPr lang="en-US" dirty="0" err="1"/>
              <a:t>torna</a:t>
            </a:r>
            <a:r>
              <a:rPr lang="en-US" dirty="0"/>
              <a:t> commodity.</a:t>
            </a:r>
          </a:p>
          <a:p>
            <a:r>
              <a:rPr lang="en-US" dirty="0" err="1"/>
              <a:t>Governança</a:t>
            </a:r>
            <a:r>
              <a:rPr lang="en-US" dirty="0"/>
              <a:t> + </a:t>
            </a:r>
            <a:r>
              <a:rPr lang="en-US" dirty="0" err="1"/>
              <a:t>conectores</a:t>
            </a:r>
            <a:r>
              <a:rPr lang="en-US" dirty="0"/>
              <a:t> + observability se </a:t>
            </a:r>
            <a:r>
              <a:rPr lang="en-US" dirty="0" err="1"/>
              <a:t>tornam</a:t>
            </a:r>
            <a:r>
              <a:rPr lang="en-US" dirty="0"/>
              <a:t> </a:t>
            </a:r>
            <a:r>
              <a:rPr lang="en-US" dirty="0" err="1"/>
              <a:t>diferenciais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6643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D663E-5E42-92F2-4DDC-2946DB84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3B64-375D-6D45-6CFA-C67FB36D9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BR" dirty="0"/>
              <a:t>Onde o capital vai fluir?</a:t>
            </a:r>
            <a:endParaRPr lang="en-BR" sz="6000" dirty="0"/>
          </a:p>
        </p:txBody>
      </p:sp>
    </p:spTree>
    <p:extLst>
      <p:ext uri="{BB962C8B-B14F-4D97-AF65-F5344CB8AC3E}">
        <p14:creationId xmlns:p14="http://schemas.microsoft.com/office/powerpoint/2010/main" val="2063418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29F7B-D480-D205-7B56-3EA37A47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FC45E6B-5191-F64D-57BC-F671452F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Fluxo de Investimentos Global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2F79F8-F2FD-270B-4516-C83EAAF00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400" dirty="0"/>
              <a:t>Entre 2023 e 2025, o </a:t>
            </a:r>
            <a:r>
              <a:rPr lang="en-US" sz="2400" dirty="0" err="1"/>
              <a:t>investimento</a:t>
            </a:r>
            <a:r>
              <a:rPr lang="en-US" sz="2400" dirty="0"/>
              <a:t> </a:t>
            </a:r>
            <a:r>
              <a:rPr lang="en-US" sz="2400" dirty="0" err="1"/>
              <a:t>focou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modelos</a:t>
            </a:r>
            <a:r>
              <a:rPr lang="en-US" sz="2400" dirty="0"/>
              <a:t>, LLMs e </a:t>
            </a:r>
            <a:r>
              <a:rPr lang="en-US" sz="2400" dirty="0" err="1"/>
              <a:t>aplicações</a:t>
            </a:r>
            <a:r>
              <a:rPr lang="en-US" sz="2400" dirty="0"/>
              <a:t> </a:t>
            </a:r>
            <a:r>
              <a:rPr lang="en-US" sz="2400" dirty="0" err="1"/>
              <a:t>finais</a:t>
            </a:r>
            <a:r>
              <a:rPr lang="en-US" sz="2400" dirty="0"/>
              <a:t> (chatbots, copilots).</a:t>
            </a:r>
            <a:endParaRPr lang="en-BR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6F3C64-F458-872D-DAF7-0ED076558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BR" dirty="0"/>
              <a:t>2023 a 2025</a:t>
            </a:r>
          </a:p>
        </p:txBody>
      </p:sp>
    </p:spTree>
    <p:extLst>
      <p:ext uri="{BB962C8B-B14F-4D97-AF65-F5344CB8AC3E}">
        <p14:creationId xmlns:p14="http://schemas.microsoft.com/office/powerpoint/2010/main" val="4214816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9B8F8-8003-0C65-FE78-5D655D12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4C5BF98-A7B6-4432-19FE-8A2A1A0F0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Fluxo de Investimentos Global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4191678-264E-E273-98EB-84F3D9C4B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Infraestrutura</a:t>
            </a:r>
            <a:r>
              <a:rPr lang="en-US" sz="2400" dirty="0"/>
              <a:t> </a:t>
            </a:r>
            <a:r>
              <a:rPr lang="en-US" sz="2400" dirty="0" err="1"/>
              <a:t>física</a:t>
            </a:r>
            <a:r>
              <a:rPr lang="en-US" sz="2400" dirty="0"/>
              <a:t> 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Chips, data centers, </a:t>
            </a:r>
            <a:r>
              <a:rPr lang="en-US" sz="2000" dirty="0" err="1"/>
              <a:t>energia</a:t>
            </a:r>
            <a:endParaRPr lang="en-US" sz="2000" dirty="0"/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Integração</a:t>
            </a:r>
            <a:r>
              <a:rPr lang="en-US" sz="2400" dirty="0"/>
              <a:t> corporative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AI Systems Integrators</a:t>
            </a:r>
          </a:p>
          <a:p>
            <a:pPr marL="342900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Governança</a:t>
            </a:r>
            <a:r>
              <a:rPr lang="en-US" sz="2400" dirty="0"/>
              <a:t> e explainability</a:t>
            </a:r>
          </a:p>
          <a:p>
            <a:pPr marL="8001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AI Governance-as-a-Service</a:t>
            </a:r>
            <a:endParaRPr lang="en-BR" sz="20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3884370-FC8C-D111-FF2D-C2A6EEBD0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BR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225493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76C11-2501-D7F3-EDCC-837FBA11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black rectangles&#10;&#10;AI-generated content may be incorrect.">
            <a:extLst>
              <a:ext uri="{FF2B5EF4-FFF2-40B4-BE49-F238E27FC236}">
                <a16:creationId xmlns:a16="http://schemas.microsoft.com/office/drawing/2014/main" id="{B499CBD8-6B72-081C-B25D-0FE5BB3EF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66896" y="0"/>
            <a:ext cx="6176427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B3B025E-AF4E-3019-3A26-EA09EC871BA1}"/>
              </a:ext>
            </a:extLst>
          </p:cNvPr>
          <p:cNvSpPr txBox="1">
            <a:spLocks/>
          </p:cNvSpPr>
          <p:nvPr/>
        </p:nvSpPr>
        <p:spPr>
          <a:xfrm>
            <a:off x="2929744" y="1645527"/>
            <a:ext cx="6332512" cy="8175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BR" b="1" dirty="0"/>
              <a:t>NOVO PETRÓLEO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E1069C-2214-BAEA-0850-3B719431E8B1}"/>
              </a:ext>
            </a:extLst>
          </p:cNvPr>
          <p:cNvGrpSpPr/>
          <p:nvPr/>
        </p:nvGrpSpPr>
        <p:grpSpPr>
          <a:xfrm>
            <a:off x="1114721" y="2984413"/>
            <a:ext cx="9962558" cy="3128936"/>
            <a:chOff x="1193618" y="2692001"/>
            <a:chExt cx="9962558" cy="3128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779465-9D0B-1DD5-8140-B2F514E742FB}"/>
                </a:ext>
              </a:extLst>
            </p:cNvPr>
            <p:cNvSpPr/>
            <p:nvPr/>
          </p:nvSpPr>
          <p:spPr>
            <a:xfrm>
              <a:off x="1193620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CHIPS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A362B7-3062-FDBB-96ED-B6E35C2809AE}"/>
                </a:ext>
              </a:extLst>
            </p:cNvPr>
            <p:cNvSpPr/>
            <p:nvPr/>
          </p:nvSpPr>
          <p:spPr>
            <a:xfrm>
              <a:off x="3834419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DATA CENTERS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D5BDC6-6211-0F7F-5733-B30BA30B62F4}"/>
                </a:ext>
              </a:extLst>
            </p:cNvPr>
            <p:cNvSpPr/>
            <p:nvPr/>
          </p:nvSpPr>
          <p:spPr>
            <a:xfrm>
              <a:off x="6475218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SOBERANIA DIGITAL</a:t>
              </a:r>
            </a:p>
          </p:txBody>
        </p:sp>
        <p:sp>
          <p:nvSpPr>
            <p:cNvPr id="2" name="Text Placeholder 9">
              <a:extLst>
                <a:ext uri="{FF2B5EF4-FFF2-40B4-BE49-F238E27FC236}">
                  <a16:creationId xmlns:a16="http://schemas.microsoft.com/office/drawing/2014/main" id="{D9A5FED5-AFAD-B34B-F848-0DFC9EC06881}"/>
                </a:ext>
              </a:extLst>
            </p:cNvPr>
            <p:cNvSpPr txBox="1">
              <a:spLocks/>
            </p:cNvSpPr>
            <p:nvPr/>
          </p:nvSpPr>
          <p:spPr>
            <a:xfrm>
              <a:off x="1193618" y="3472957"/>
              <a:ext cx="2040159" cy="234798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NVIDIA </a:t>
              </a:r>
              <a:r>
                <a:rPr lang="en-US" sz="1200" dirty="0" err="1"/>
                <a:t>domina</a:t>
              </a:r>
              <a:r>
                <a:rPr lang="en-US" sz="1200" dirty="0"/>
                <a:t>, mas </a:t>
              </a:r>
              <a:r>
                <a:rPr lang="en-US" sz="1200" dirty="0" err="1"/>
                <a:t>disputa</a:t>
              </a:r>
              <a:r>
                <a:rPr lang="en-US" sz="1200" dirty="0"/>
                <a:t> </a:t>
              </a:r>
              <a:r>
                <a:rPr lang="en-US" sz="1200" dirty="0" err="1"/>
                <a:t>cresce</a:t>
              </a:r>
              <a:r>
                <a:rPr lang="en-US" sz="1200" dirty="0"/>
                <a:t> com AMD, Intel, </a:t>
              </a:r>
              <a:r>
                <a:rPr lang="en-US" sz="1200" dirty="0" err="1"/>
                <a:t>Tenstorrent</a:t>
              </a:r>
              <a:r>
                <a:rPr lang="en-US" sz="1200" dirty="0"/>
                <a:t> e ASICs </a:t>
              </a:r>
              <a:r>
                <a:rPr lang="en-US" sz="1200" dirty="0" err="1"/>
                <a:t>dedicados</a:t>
              </a:r>
              <a:r>
                <a:rPr lang="en-US" sz="1200" dirty="0"/>
                <a:t>.</a:t>
              </a:r>
            </a:p>
            <a:p>
              <a:r>
                <a:rPr lang="en-US" sz="1200" dirty="0"/>
                <a:t>Meta </a:t>
              </a:r>
              <a:r>
                <a:rPr lang="en-US" sz="1200" dirty="0" err="1"/>
                <a:t>é</a:t>
              </a:r>
              <a:r>
                <a:rPr lang="en-US" sz="1200" dirty="0"/>
                <a:t> </a:t>
              </a:r>
              <a:r>
                <a:rPr lang="en-US" sz="1200" dirty="0" err="1"/>
                <a:t>eficiência</a:t>
              </a:r>
              <a:r>
                <a:rPr lang="en-US" sz="1200" dirty="0"/>
                <a:t>: watt → token → </a:t>
              </a:r>
              <a:r>
                <a:rPr lang="en-US" sz="1200" dirty="0" err="1"/>
                <a:t>dólar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  <p:sp>
          <p:nvSpPr>
            <p:cNvPr id="3" name="Text Placeholder 12">
              <a:extLst>
                <a:ext uri="{FF2B5EF4-FFF2-40B4-BE49-F238E27FC236}">
                  <a16:creationId xmlns:a16="http://schemas.microsoft.com/office/drawing/2014/main" id="{99FB1976-28B8-8DA5-3398-289CEAB4BB03}"/>
                </a:ext>
              </a:extLst>
            </p:cNvPr>
            <p:cNvSpPr txBox="1">
              <a:spLocks/>
            </p:cNvSpPr>
            <p:nvPr/>
          </p:nvSpPr>
          <p:spPr>
            <a:xfrm>
              <a:off x="3834418" y="3472957"/>
              <a:ext cx="2040159" cy="154263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Expansão</a:t>
              </a:r>
              <a:r>
                <a:rPr lang="en-US" sz="1200" dirty="0"/>
                <a:t> de edge data centers para </a:t>
              </a:r>
              <a:r>
                <a:rPr lang="en-US" sz="1200" dirty="0" err="1"/>
                <a:t>inferência</a:t>
              </a:r>
              <a:r>
                <a:rPr lang="en-US" sz="1200" dirty="0"/>
                <a:t> regional;</a:t>
              </a:r>
            </a:p>
            <a:p>
              <a:r>
                <a:rPr lang="en-US" sz="1200" dirty="0" err="1"/>
                <a:t>Refrigeração</a:t>
              </a:r>
              <a:r>
                <a:rPr lang="en-US" sz="1200" dirty="0"/>
                <a:t> </a:t>
              </a:r>
              <a:r>
                <a:rPr lang="en-US" sz="1200" dirty="0" err="1"/>
                <a:t>líquida</a:t>
              </a:r>
              <a:r>
                <a:rPr lang="en-US" sz="1200" dirty="0"/>
                <a:t> e </a:t>
              </a:r>
              <a:r>
                <a:rPr lang="en-US" sz="1200" dirty="0" err="1"/>
                <a:t>energia</a:t>
              </a:r>
              <a:r>
                <a:rPr lang="en-US" sz="1200" dirty="0"/>
                <a:t> limpa </a:t>
              </a:r>
              <a:r>
                <a:rPr lang="en-US" sz="1200" dirty="0" err="1"/>
                <a:t>como</a:t>
              </a:r>
              <a:r>
                <a:rPr lang="en-US" sz="1200" dirty="0"/>
                <a:t> </a:t>
              </a:r>
              <a:r>
                <a:rPr lang="en-US" sz="1200" dirty="0" err="1"/>
                <a:t>requisitos</a:t>
              </a:r>
              <a:r>
                <a:rPr lang="en-US" sz="1200" dirty="0"/>
                <a:t> </a:t>
              </a:r>
              <a:r>
                <a:rPr lang="en-US" sz="1200" dirty="0" err="1"/>
                <a:t>centrais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  <p:sp>
          <p:nvSpPr>
            <p:cNvPr id="7" name="Text Placeholder 13">
              <a:extLst>
                <a:ext uri="{FF2B5EF4-FFF2-40B4-BE49-F238E27FC236}">
                  <a16:creationId xmlns:a16="http://schemas.microsoft.com/office/drawing/2014/main" id="{8E363D1E-3926-4A37-E00F-97C7B2943E87}"/>
                </a:ext>
              </a:extLst>
            </p:cNvPr>
            <p:cNvSpPr txBox="1">
              <a:spLocks/>
            </p:cNvSpPr>
            <p:nvPr/>
          </p:nvSpPr>
          <p:spPr>
            <a:xfrm>
              <a:off x="64752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UE, </a:t>
              </a:r>
              <a:r>
                <a:rPr lang="en-US" sz="1200" dirty="0" err="1"/>
                <a:t>Índia</a:t>
              </a:r>
              <a:r>
                <a:rPr lang="en-US" sz="1200" dirty="0"/>
                <a:t> e outros </a:t>
              </a:r>
              <a:r>
                <a:rPr lang="en-US" sz="1200" dirty="0" err="1"/>
                <a:t>países</a:t>
              </a:r>
              <a:r>
                <a:rPr lang="en-US" sz="1200" dirty="0"/>
                <a:t> </a:t>
              </a:r>
              <a:r>
                <a:rPr lang="en-US" sz="1200" dirty="0" err="1"/>
                <a:t>criam</a:t>
              </a:r>
              <a:r>
                <a:rPr lang="en-US" sz="1200" dirty="0"/>
                <a:t> </a:t>
              </a:r>
              <a:r>
                <a:rPr lang="en-US" sz="1200" dirty="0" err="1"/>
                <a:t>fundos</a:t>
              </a:r>
              <a:r>
                <a:rPr lang="en-US" sz="1200" dirty="0"/>
                <a:t> de compute </a:t>
              </a:r>
              <a:r>
                <a:rPr lang="en-US" sz="1200" dirty="0" err="1"/>
                <a:t>próprio</a:t>
              </a:r>
              <a:r>
                <a:rPr lang="en-US" sz="1200" dirty="0"/>
                <a:t> para </a:t>
              </a:r>
              <a:r>
                <a:rPr lang="en-US" sz="1200" dirty="0" err="1"/>
                <a:t>reduzir</a:t>
              </a:r>
              <a:r>
                <a:rPr lang="en-US" sz="1200" dirty="0"/>
                <a:t> </a:t>
              </a:r>
              <a:r>
                <a:rPr lang="en-US" sz="1200" dirty="0" err="1"/>
                <a:t>dependência</a:t>
              </a:r>
              <a:r>
                <a:rPr lang="en-US" sz="1200" dirty="0"/>
                <a:t> externa.</a:t>
              </a:r>
              <a:endParaRPr lang="en-BR" sz="1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D6F6069-60FC-B04D-7DD9-C91B9F2B785A}"/>
                </a:ext>
              </a:extLst>
            </p:cNvPr>
            <p:cNvSpPr/>
            <p:nvPr/>
          </p:nvSpPr>
          <p:spPr>
            <a:xfrm>
              <a:off x="9116017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U$ 200 BI</a:t>
              </a:r>
            </a:p>
          </p:txBody>
        </p:sp>
        <p:sp>
          <p:nvSpPr>
            <p:cNvPr id="21" name="Text Placeholder 13">
              <a:extLst>
                <a:ext uri="{FF2B5EF4-FFF2-40B4-BE49-F238E27FC236}">
                  <a16:creationId xmlns:a16="http://schemas.microsoft.com/office/drawing/2014/main" id="{3F29D5AA-DD11-9C2F-EACE-3645C7D307B4}"/>
                </a:ext>
              </a:extLst>
            </p:cNvPr>
            <p:cNvSpPr txBox="1">
              <a:spLocks/>
            </p:cNvSpPr>
            <p:nvPr/>
          </p:nvSpPr>
          <p:spPr>
            <a:xfrm>
              <a:off x="91160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Investimentos </a:t>
              </a:r>
              <a:r>
                <a:rPr lang="en-US" sz="1200" dirty="0" err="1"/>
                <a:t>globais</a:t>
              </a:r>
              <a:r>
                <a:rPr lang="en-US" sz="1200" dirty="0"/>
                <a:t> </a:t>
              </a:r>
              <a:r>
                <a:rPr lang="en-US" sz="1200" dirty="0" err="1"/>
                <a:t>em</a:t>
              </a:r>
              <a:r>
                <a:rPr lang="en-US" sz="1200" dirty="0"/>
                <a:t> chips + data centers + </a:t>
              </a:r>
              <a:r>
                <a:rPr lang="en-US" sz="1200" dirty="0" err="1"/>
                <a:t>energia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52995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0B2C9-1B0B-D45E-D3D2-EED5729B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black rectangles&#10;&#10;AI-generated content may be incorrect.">
            <a:extLst>
              <a:ext uri="{FF2B5EF4-FFF2-40B4-BE49-F238E27FC236}">
                <a16:creationId xmlns:a16="http://schemas.microsoft.com/office/drawing/2014/main" id="{BB9C86D9-CCFA-9F71-BA46-2E9D713D4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66896" y="0"/>
            <a:ext cx="6176427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4583751-2385-FF2B-23EC-CB06AED616D5}"/>
              </a:ext>
            </a:extLst>
          </p:cNvPr>
          <p:cNvSpPr txBox="1">
            <a:spLocks/>
          </p:cNvSpPr>
          <p:nvPr/>
        </p:nvSpPr>
        <p:spPr>
          <a:xfrm>
            <a:off x="2929744" y="1645527"/>
            <a:ext cx="6332512" cy="8175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BR" b="1" dirty="0"/>
              <a:t>SEGUNDO FLUXO DE CAPITAL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7323C76-A1CE-7641-B414-62A720695003}"/>
              </a:ext>
            </a:extLst>
          </p:cNvPr>
          <p:cNvGrpSpPr/>
          <p:nvPr/>
        </p:nvGrpSpPr>
        <p:grpSpPr>
          <a:xfrm>
            <a:off x="1114721" y="2984413"/>
            <a:ext cx="9962558" cy="3128936"/>
            <a:chOff x="1193618" y="2692001"/>
            <a:chExt cx="9962558" cy="3128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AA88FDA-AF74-3637-D705-6CD63758043F}"/>
                </a:ext>
              </a:extLst>
            </p:cNvPr>
            <p:cNvSpPr/>
            <p:nvPr/>
          </p:nvSpPr>
          <p:spPr>
            <a:xfrm>
              <a:off x="1193620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INTEGRAÇÕES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4CDF4A-25F3-3ABA-7F4B-BF0C91D8F48A}"/>
                </a:ext>
              </a:extLst>
            </p:cNvPr>
            <p:cNvSpPr/>
            <p:nvPr/>
          </p:nvSpPr>
          <p:spPr>
            <a:xfrm>
              <a:off x="3834419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SERVIÇOS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DA77473-654B-A160-579F-B7C60C9F91DD}"/>
                </a:ext>
              </a:extLst>
            </p:cNvPr>
            <p:cNvSpPr/>
            <p:nvPr/>
          </p:nvSpPr>
          <p:spPr>
            <a:xfrm>
              <a:off x="6475218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PROFISSIONAIS</a:t>
              </a:r>
            </a:p>
          </p:txBody>
        </p:sp>
        <p:sp>
          <p:nvSpPr>
            <p:cNvPr id="2" name="Text Placeholder 9">
              <a:extLst>
                <a:ext uri="{FF2B5EF4-FFF2-40B4-BE49-F238E27FC236}">
                  <a16:creationId xmlns:a16="http://schemas.microsoft.com/office/drawing/2014/main" id="{73953B71-A24F-E749-5ADB-43121E3ABAF7}"/>
                </a:ext>
              </a:extLst>
            </p:cNvPr>
            <p:cNvSpPr txBox="1">
              <a:spLocks/>
            </p:cNvSpPr>
            <p:nvPr/>
          </p:nvSpPr>
          <p:spPr>
            <a:xfrm>
              <a:off x="1193618" y="3472957"/>
              <a:ext cx="2040159" cy="234798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Consultorias</a:t>
              </a:r>
              <a:r>
                <a:rPr lang="en-US" sz="1200" dirty="0"/>
                <a:t> </a:t>
              </a:r>
              <a:r>
                <a:rPr lang="en-US" sz="1200" dirty="0" err="1"/>
                <a:t>globais</a:t>
              </a:r>
              <a:r>
                <a:rPr lang="en-US" sz="1200" dirty="0"/>
                <a:t> (Accenture, Deloitte, PwC, Capgemini, KPMG, EY) se </a:t>
              </a:r>
              <a:r>
                <a:rPr lang="en-US" sz="1200" dirty="0" err="1"/>
                <a:t>tornam</a:t>
              </a:r>
              <a:r>
                <a:rPr lang="en-US" sz="1200" dirty="0"/>
                <a:t> </a:t>
              </a:r>
              <a:r>
                <a:rPr lang="en-US" sz="1200" b="1" dirty="0"/>
                <a:t>AI Systems Integrators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  <p:sp>
          <p:nvSpPr>
            <p:cNvPr id="3" name="Text Placeholder 12">
              <a:extLst>
                <a:ext uri="{FF2B5EF4-FFF2-40B4-BE49-F238E27FC236}">
                  <a16:creationId xmlns:a16="http://schemas.microsoft.com/office/drawing/2014/main" id="{C13DF14F-3DE4-3B92-E71F-DEB52C9889AB}"/>
                </a:ext>
              </a:extLst>
            </p:cNvPr>
            <p:cNvSpPr txBox="1">
              <a:spLocks/>
            </p:cNvSpPr>
            <p:nvPr/>
          </p:nvSpPr>
          <p:spPr>
            <a:xfrm>
              <a:off x="3834418" y="3472957"/>
              <a:ext cx="2040159" cy="154263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Novo </a:t>
              </a:r>
              <a:r>
                <a:rPr lang="en-US" sz="1200" dirty="0" err="1"/>
                <a:t>tipo</a:t>
              </a:r>
              <a:r>
                <a:rPr lang="en-US" sz="1200" dirty="0"/>
                <a:t> de </a:t>
              </a:r>
              <a:r>
                <a:rPr lang="en-US" sz="1200" dirty="0" err="1"/>
                <a:t>contrato</a:t>
              </a:r>
              <a:r>
                <a:rPr lang="en-US" sz="1200" dirty="0"/>
                <a:t>: AI Managed Service, com SLA </a:t>
              </a:r>
              <a:r>
                <a:rPr lang="en-US" sz="1200" dirty="0" err="1"/>
                <a:t>cognitivo</a:t>
              </a:r>
              <a:r>
                <a:rPr lang="en-US" sz="1200" dirty="0"/>
                <a:t> </a:t>
              </a:r>
              <a:r>
                <a:rPr lang="en-US" sz="1200" dirty="0" err="1"/>
                <a:t>baseado</a:t>
              </a:r>
              <a:r>
                <a:rPr lang="en-US" sz="1200" dirty="0"/>
                <a:t> </a:t>
              </a:r>
              <a:r>
                <a:rPr lang="en-US" sz="1200" dirty="0" err="1"/>
                <a:t>em</a:t>
              </a:r>
              <a:r>
                <a:rPr lang="en-US" sz="1200" dirty="0"/>
                <a:t>:</a:t>
              </a:r>
            </a:p>
            <a:p>
              <a:r>
                <a:rPr lang="en-US" sz="1200" dirty="0" err="1"/>
                <a:t>Acurácia</a:t>
              </a:r>
              <a:endParaRPr lang="en-US" sz="1200" dirty="0"/>
            </a:p>
            <a:p>
              <a:r>
                <a:rPr lang="en-US" sz="1200" dirty="0" err="1"/>
                <a:t>Latência</a:t>
              </a:r>
              <a:endParaRPr lang="en-US" sz="1200" dirty="0"/>
            </a:p>
            <a:p>
              <a:r>
                <a:rPr lang="en-US" sz="1200" dirty="0" err="1"/>
                <a:t>Custo</a:t>
              </a:r>
              <a:r>
                <a:rPr lang="en-US" sz="1200" dirty="0"/>
                <a:t> </a:t>
              </a:r>
              <a:r>
                <a:rPr lang="en-US" sz="1200" dirty="0" err="1"/>
                <a:t>por</a:t>
              </a:r>
              <a:r>
                <a:rPr lang="en-US" sz="1200" dirty="0"/>
                <a:t> </a:t>
              </a:r>
              <a:r>
                <a:rPr lang="en-US" sz="1200" dirty="0" err="1"/>
                <a:t>tarefa</a:t>
              </a:r>
              <a:endParaRPr lang="en-US" sz="1200" dirty="0"/>
            </a:p>
            <a:p>
              <a:r>
                <a:rPr lang="en-US" sz="1200" dirty="0"/>
                <a:t>Performance dos </a:t>
              </a:r>
              <a:r>
                <a:rPr lang="en-US" sz="1200" dirty="0" err="1"/>
                <a:t>agentes</a:t>
              </a:r>
              <a:endParaRPr lang="en-US" sz="1200" dirty="0"/>
            </a:p>
          </p:txBody>
        </p:sp>
        <p:sp>
          <p:nvSpPr>
            <p:cNvPr id="7" name="Text Placeholder 13">
              <a:extLst>
                <a:ext uri="{FF2B5EF4-FFF2-40B4-BE49-F238E27FC236}">
                  <a16:creationId xmlns:a16="http://schemas.microsoft.com/office/drawing/2014/main" id="{94D0FCCF-2F38-E709-6F84-FDC8CAA12378}"/>
                </a:ext>
              </a:extLst>
            </p:cNvPr>
            <p:cNvSpPr txBox="1">
              <a:spLocks/>
            </p:cNvSpPr>
            <p:nvPr/>
          </p:nvSpPr>
          <p:spPr>
            <a:xfrm>
              <a:off x="64752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Déficit</a:t>
              </a:r>
              <a:r>
                <a:rPr lang="en-US" sz="1200" dirty="0"/>
                <a:t> global de </a:t>
              </a:r>
              <a:r>
                <a:rPr lang="en-US" sz="1200" dirty="0" err="1"/>
                <a:t>mais</a:t>
              </a:r>
              <a:r>
                <a:rPr lang="en-US" sz="1200" dirty="0"/>
                <a:t> de </a:t>
              </a:r>
              <a:r>
                <a:rPr lang="en-US" sz="1200" b="1" dirty="0"/>
                <a:t>1 </a:t>
              </a:r>
              <a:r>
                <a:rPr lang="en-US" sz="1200" b="1" dirty="0" err="1"/>
                <a:t>milhão</a:t>
              </a:r>
              <a:r>
                <a:rPr lang="en-US" sz="1200" b="1" dirty="0"/>
                <a:t> de </a:t>
              </a:r>
              <a:r>
                <a:rPr lang="en-US" sz="1200" b="1" dirty="0" err="1"/>
                <a:t>profissionais</a:t>
              </a:r>
              <a:r>
                <a:rPr lang="en-US" sz="1200" dirty="0"/>
                <a:t> de IA </a:t>
              </a:r>
              <a:r>
                <a:rPr lang="en-US" sz="1200" dirty="0" err="1"/>
                <a:t>aplicada</a:t>
              </a:r>
              <a:r>
                <a:rPr lang="en-US" sz="1200" dirty="0"/>
                <a:t> </a:t>
              </a:r>
              <a:r>
                <a:rPr lang="en-US" sz="1200" dirty="0" err="1"/>
                <a:t>até</a:t>
              </a:r>
              <a:r>
                <a:rPr lang="en-US" sz="1200" dirty="0"/>
                <a:t> 2026.</a:t>
              </a:r>
              <a:endParaRPr lang="en-BR" sz="1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AA1ADFB-2307-2922-F488-449D92ACD894}"/>
                </a:ext>
              </a:extLst>
            </p:cNvPr>
            <p:cNvSpPr/>
            <p:nvPr/>
          </p:nvSpPr>
          <p:spPr>
            <a:xfrm>
              <a:off x="9116017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NOVOS PERFIS</a:t>
              </a:r>
            </a:p>
          </p:txBody>
        </p:sp>
        <p:sp>
          <p:nvSpPr>
            <p:cNvPr id="21" name="Text Placeholder 13">
              <a:extLst>
                <a:ext uri="{FF2B5EF4-FFF2-40B4-BE49-F238E27FC236}">
                  <a16:creationId xmlns:a16="http://schemas.microsoft.com/office/drawing/2014/main" id="{F88321D4-335D-7E2A-E944-1C40C2E49F67}"/>
                </a:ext>
              </a:extLst>
            </p:cNvPr>
            <p:cNvSpPr txBox="1">
              <a:spLocks/>
            </p:cNvSpPr>
            <p:nvPr/>
          </p:nvSpPr>
          <p:spPr>
            <a:xfrm>
              <a:off x="91160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Cresce</a:t>
              </a:r>
              <a:r>
                <a:rPr lang="en-US" sz="1200" dirty="0"/>
                <a:t> a </a:t>
              </a:r>
              <a:r>
                <a:rPr lang="en-US" sz="1200" dirty="0" err="1"/>
                <a:t>demanda</a:t>
              </a:r>
              <a:r>
                <a:rPr lang="en-US" sz="1200" dirty="0"/>
                <a:t> </a:t>
              </a:r>
              <a:r>
                <a:rPr lang="en-US" sz="1200" dirty="0" err="1"/>
                <a:t>por</a:t>
              </a:r>
              <a:r>
                <a:rPr lang="en-US" sz="1200" dirty="0"/>
                <a:t> </a:t>
              </a:r>
              <a:r>
                <a:rPr lang="en-US" sz="1200" dirty="0" err="1"/>
                <a:t>novos</a:t>
              </a:r>
              <a:r>
                <a:rPr lang="en-US" sz="1200" dirty="0"/>
                <a:t> </a:t>
              </a:r>
              <a:r>
                <a:rPr lang="en-US" sz="1200" dirty="0" err="1"/>
                <a:t>perfis</a:t>
              </a:r>
              <a:r>
                <a:rPr lang="en-US" sz="1200" dirty="0"/>
                <a:t>: </a:t>
              </a:r>
              <a:r>
                <a:rPr lang="en-US" sz="1200" dirty="0" err="1"/>
                <a:t>engenheiros</a:t>
              </a:r>
              <a:r>
                <a:rPr lang="en-US" sz="1200" dirty="0"/>
                <a:t> de </a:t>
              </a:r>
              <a:r>
                <a:rPr lang="en-US" sz="1200" dirty="0" err="1"/>
                <a:t>integração</a:t>
              </a:r>
              <a:r>
                <a:rPr lang="en-US" sz="1200" dirty="0"/>
                <a:t> </a:t>
              </a:r>
              <a:r>
                <a:rPr lang="en-US" sz="1200" dirty="0" err="1"/>
                <a:t>cognitiva</a:t>
              </a:r>
              <a:r>
                <a:rPr lang="en-US" sz="1200" dirty="0"/>
                <a:t>, AI Ops, </a:t>
              </a:r>
              <a:r>
                <a:rPr lang="en-US" sz="1200" dirty="0" err="1"/>
                <a:t>especialistas</a:t>
              </a:r>
              <a:r>
                <a:rPr lang="en-US" sz="1200" dirty="0"/>
                <a:t> de </a:t>
              </a:r>
              <a:r>
                <a:rPr lang="en-US" sz="1200" dirty="0" err="1"/>
                <a:t>governança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9223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5A63C-B398-26F4-BD02-699D5EB5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black rectangles&#10;&#10;AI-generated content may be incorrect.">
            <a:extLst>
              <a:ext uri="{FF2B5EF4-FFF2-40B4-BE49-F238E27FC236}">
                <a16:creationId xmlns:a16="http://schemas.microsoft.com/office/drawing/2014/main" id="{25B7FF1B-FB37-1375-7D51-7BB2A0E50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66896" y="0"/>
            <a:ext cx="6176427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82C2ACBD-16F2-A778-73AE-1149B212EED2}"/>
              </a:ext>
            </a:extLst>
          </p:cNvPr>
          <p:cNvSpPr txBox="1">
            <a:spLocks/>
          </p:cNvSpPr>
          <p:nvPr/>
        </p:nvSpPr>
        <p:spPr>
          <a:xfrm>
            <a:off x="2929744" y="1645527"/>
            <a:ext cx="6332512" cy="8175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BR" b="1" dirty="0"/>
              <a:t>TERCEIRO FLUXO DE CAPITAL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405494C-7DD5-2CAC-61A9-08A350A2CCC1}"/>
              </a:ext>
            </a:extLst>
          </p:cNvPr>
          <p:cNvGrpSpPr/>
          <p:nvPr/>
        </p:nvGrpSpPr>
        <p:grpSpPr>
          <a:xfrm>
            <a:off x="2435121" y="2984413"/>
            <a:ext cx="7321759" cy="3128936"/>
            <a:chOff x="1193618" y="2692001"/>
            <a:chExt cx="7321759" cy="3128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F1757E-6425-400F-2E07-E51F5EFDD976}"/>
                </a:ext>
              </a:extLst>
            </p:cNvPr>
            <p:cNvSpPr/>
            <p:nvPr/>
          </p:nvSpPr>
          <p:spPr>
            <a:xfrm>
              <a:off x="1193620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INFRAESTRUTURA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E53D0-A69B-DB41-711F-4DFB66B6E498}"/>
                </a:ext>
              </a:extLst>
            </p:cNvPr>
            <p:cNvSpPr/>
            <p:nvPr/>
          </p:nvSpPr>
          <p:spPr>
            <a:xfrm>
              <a:off x="3834419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SERVIÇOS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E696AF-A109-B1D2-9B54-F5498319205B}"/>
                </a:ext>
              </a:extLst>
            </p:cNvPr>
            <p:cNvSpPr/>
            <p:nvPr/>
          </p:nvSpPr>
          <p:spPr>
            <a:xfrm>
              <a:off x="6475218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GOVERNANÇA</a:t>
              </a:r>
            </a:p>
          </p:txBody>
        </p:sp>
        <p:sp>
          <p:nvSpPr>
            <p:cNvPr id="2" name="Text Placeholder 9">
              <a:extLst>
                <a:ext uri="{FF2B5EF4-FFF2-40B4-BE49-F238E27FC236}">
                  <a16:creationId xmlns:a16="http://schemas.microsoft.com/office/drawing/2014/main" id="{330EC18D-D4C5-E872-92FD-11F5C99EE1A9}"/>
                </a:ext>
              </a:extLst>
            </p:cNvPr>
            <p:cNvSpPr txBox="1">
              <a:spLocks/>
            </p:cNvSpPr>
            <p:nvPr/>
          </p:nvSpPr>
          <p:spPr>
            <a:xfrm>
              <a:off x="1193618" y="3472957"/>
              <a:ext cx="2040159" cy="234798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Compute, chips, data centers, </a:t>
              </a:r>
              <a:r>
                <a:rPr lang="en-US" sz="1200" dirty="0" err="1"/>
                <a:t>energia</a:t>
              </a:r>
              <a:r>
                <a:rPr lang="en-US" sz="1200" dirty="0"/>
                <a:t> limpa.</a:t>
              </a:r>
              <a:br>
                <a:rPr lang="en-US" sz="1200" dirty="0"/>
              </a:br>
              <a:r>
                <a:rPr lang="en-US" sz="1200" dirty="0" err="1"/>
                <a:t>Motivação</a:t>
              </a:r>
              <a:r>
                <a:rPr lang="en-US" sz="1200" dirty="0"/>
                <a:t>: </a:t>
              </a:r>
              <a:r>
                <a:rPr lang="en-US" sz="1200" dirty="0" err="1"/>
                <a:t>escalabilidade</a:t>
              </a:r>
              <a:r>
                <a:rPr lang="en-US" sz="1200" dirty="0"/>
                <a:t> e </a:t>
              </a:r>
              <a:r>
                <a:rPr lang="en-US" sz="1200" dirty="0" err="1"/>
                <a:t>soberania</a:t>
              </a:r>
              <a:r>
                <a:rPr lang="en-US" sz="1200" dirty="0"/>
                <a:t> digital.</a:t>
              </a:r>
              <a:endParaRPr lang="en-BR" sz="1200" dirty="0"/>
            </a:p>
          </p:txBody>
        </p:sp>
        <p:sp>
          <p:nvSpPr>
            <p:cNvPr id="3" name="Text Placeholder 12">
              <a:extLst>
                <a:ext uri="{FF2B5EF4-FFF2-40B4-BE49-F238E27FC236}">
                  <a16:creationId xmlns:a16="http://schemas.microsoft.com/office/drawing/2014/main" id="{A0CFF6EC-94F2-3BEA-6FB3-26BA5F7FC9B4}"/>
                </a:ext>
              </a:extLst>
            </p:cNvPr>
            <p:cNvSpPr txBox="1">
              <a:spLocks/>
            </p:cNvSpPr>
            <p:nvPr/>
          </p:nvSpPr>
          <p:spPr>
            <a:xfrm>
              <a:off x="3834418" y="3472957"/>
              <a:ext cx="2040159" cy="154263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Integração</a:t>
              </a:r>
              <a:r>
                <a:rPr lang="en-US" sz="1200" dirty="0"/>
                <a:t> com ERPs, CRMs e </a:t>
              </a:r>
              <a:r>
                <a:rPr lang="en-US" sz="1200" dirty="0" err="1"/>
                <a:t>sistemas</a:t>
              </a:r>
              <a:r>
                <a:rPr lang="en-US" sz="1200" dirty="0"/>
                <a:t> </a:t>
              </a:r>
              <a:r>
                <a:rPr lang="en-US" sz="1200" dirty="0" err="1"/>
                <a:t>críticos</a:t>
              </a:r>
              <a:r>
                <a:rPr lang="en-US" sz="1200" dirty="0"/>
                <a:t>; AI Ops; Managed Services.</a:t>
              </a:r>
              <a:br>
                <a:rPr lang="en-US" sz="1200" dirty="0"/>
              </a:br>
              <a:r>
                <a:rPr lang="en-US" sz="1200" dirty="0" err="1"/>
                <a:t>Motivação</a:t>
              </a:r>
              <a:r>
                <a:rPr lang="en-US" sz="1200" dirty="0"/>
                <a:t>: </a:t>
              </a:r>
              <a:r>
                <a:rPr lang="en-US" sz="1200" dirty="0" err="1"/>
                <a:t>transformar</a:t>
              </a:r>
              <a:r>
                <a:rPr lang="en-US" sz="1200" dirty="0"/>
                <a:t> IA </a:t>
              </a:r>
              <a:r>
                <a:rPr lang="en-US" sz="1200" dirty="0" err="1"/>
                <a:t>em</a:t>
              </a:r>
              <a:r>
                <a:rPr lang="en-US" sz="1200" dirty="0"/>
                <a:t> ROI real.</a:t>
              </a:r>
              <a:endParaRPr lang="en-BR" sz="1200" dirty="0"/>
            </a:p>
          </p:txBody>
        </p:sp>
        <p:sp>
          <p:nvSpPr>
            <p:cNvPr id="7" name="Text Placeholder 13">
              <a:extLst>
                <a:ext uri="{FF2B5EF4-FFF2-40B4-BE49-F238E27FC236}">
                  <a16:creationId xmlns:a16="http://schemas.microsoft.com/office/drawing/2014/main" id="{FB79ADF8-2722-BB51-C087-78ACC13EDF1A}"/>
                </a:ext>
              </a:extLst>
            </p:cNvPr>
            <p:cNvSpPr txBox="1">
              <a:spLocks/>
            </p:cNvSpPr>
            <p:nvPr/>
          </p:nvSpPr>
          <p:spPr>
            <a:xfrm>
              <a:off x="64752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Segurança</a:t>
              </a:r>
              <a:r>
                <a:rPr lang="en-US" sz="1200" dirty="0"/>
                <a:t>, </a:t>
              </a:r>
              <a:r>
                <a:rPr lang="en-US" sz="1200" dirty="0" err="1"/>
                <a:t>transparência</a:t>
              </a:r>
              <a:r>
                <a:rPr lang="en-US" sz="1200" dirty="0"/>
                <a:t>, auditoria, compliance.</a:t>
              </a:r>
              <a:br>
                <a:rPr lang="en-US" sz="1200" dirty="0"/>
              </a:br>
              <a:r>
                <a:rPr lang="en-US" sz="1200" dirty="0" err="1"/>
                <a:t>Motivação</a:t>
              </a:r>
              <a:r>
                <a:rPr lang="en-US" sz="1200" dirty="0"/>
                <a:t>: </a:t>
              </a:r>
              <a:r>
                <a:rPr lang="en-US" sz="1200" dirty="0" err="1"/>
                <a:t>confiança</a:t>
              </a:r>
              <a:r>
                <a:rPr lang="en-US" sz="1200" dirty="0"/>
                <a:t> e </a:t>
              </a:r>
              <a:r>
                <a:rPr lang="en-US" sz="1200" dirty="0" err="1"/>
                <a:t>regulação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577012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76F68-737D-6811-83F0-EEB37FAE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3EF9-C60C-9067-1DC2-E394BC8DCF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BR" dirty="0"/>
              <a:t>O que fica e o que sai?</a:t>
            </a:r>
            <a:endParaRPr lang="en-BR" sz="6000" dirty="0"/>
          </a:p>
        </p:txBody>
      </p:sp>
    </p:spTree>
    <p:extLst>
      <p:ext uri="{BB962C8B-B14F-4D97-AF65-F5344CB8AC3E}">
        <p14:creationId xmlns:p14="http://schemas.microsoft.com/office/powerpoint/2010/main" val="1043831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3E410-3E6F-4465-AD33-12E442E97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BE68305-7BD0-2281-FC92-D18553D9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Fim da era “toy”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AD00EE-8B73-C34A-CEB4-EEA554D79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Sem </a:t>
            </a:r>
            <a:r>
              <a:rPr lang="en-US" sz="2400" dirty="0" err="1"/>
              <a:t>integração</a:t>
            </a:r>
            <a:r>
              <a:rPr lang="en-US" sz="2400" dirty="0"/>
              <a:t> profunda com ERP/CRM/</a:t>
            </a:r>
            <a:r>
              <a:rPr lang="en-US" sz="2400" dirty="0" err="1"/>
              <a:t>legado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Sem </a:t>
            </a:r>
            <a:r>
              <a:rPr lang="en-US" sz="2400" dirty="0" err="1"/>
              <a:t>diferencial</a:t>
            </a:r>
            <a:r>
              <a:rPr lang="en-US" sz="2400" dirty="0"/>
              <a:t> de dados (dados </a:t>
            </a:r>
            <a:r>
              <a:rPr lang="en-US" sz="2400" dirty="0" err="1"/>
              <a:t>corporativos</a:t>
            </a:r>
            <a:r>
              <a:rPr lang="en-US" sz="2400" dirty="0"/>
              <a:t> ≫ APIs </a:t>
            </a:r>
            <a:r>
              <a:rPr lang="en-US" sz="2400" dirty="0" err="1"/>
              <a:t>genéricas</a:t>
            </a:r>
            <a:r>
              <a:rPr lang="en-US" sz="2400" dirty="0"/>
              <a:t>).</a:t>
            </a:r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2400" dirty="0" err="1"/>
              <a:t>Sustentabilidade</a:t>
            </a:r>
            <a:r>
              <a:rPr lang="en-US" sz="2400" dirty="0"/>
              <a:t> </a:t>
            </a:r>
            <a:r>
              <a:rPr lang="en-US" sz="2400" dirty="0" err="1"/>
              <a:t>financeira</a:t>
            </a:r>
            <a:r>
              <a:rPr lang="en-US" sz="2400" dirty="0"/>
              <a:t> </a:t>
            </a:r>
            <a:r>
              <a:rPr lang="en-US" sz="2400" dirty="0" err="1"/>
              <a:t>frágil</a:t>
            </a:r>
            <a:r>
              <a:rPr lang="en-US" sz="2400" dirty="0"/>
              <a:t> (</a:t>
            </a:r>
            <a:r>
              <a:rPr lang="en-US" sz="2400" dirty="0" err="1"/>
              <a:t>dependem</a:t>
            </a:r>
            <a:r>
              <a:rPr lang="en-US" sz="2400" dirty="0"/>
              <a:t> 100% de APIs </a:t>
            </a:r>
            <a:r>
              <a:rPr lang="en-US" sz="2400" dirty="0" err="1"/>
              <a:t>externas</a:t>
            </a:r>
            <a:r>
              <a:rPr lang="en-US" sz="2400" dirty="0"/>
              <a:t>).</a:t>
            </a:r>
          </a:p>
          <a:p>
            <a:pPr marL="342900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Sem observability, </a:t>
            </a:r>
            <a:r>
              <a:rPr lang="en-US" sz="2400" dirty="0" err="1"/>
              <a:t>versão</a:t>
            </a:r>
            <a:r>
              <a:rPr lang="en-US" sz="2400" dirty="0"/>
              <a:t>, </a:t>
            </a:r>
            <a:r>
              <a:rPr lang="en-US" sz="2400" dirty="0" err="1"/>
              <a:t>segurança</a:t>
            </a:r>
            <a:r>
              <a:rPr lang="en-US" sz="2400" dirty="0"/>
              <a:t> </a:t>
            </a:r>
            <a:r>
              <a:rPr lang="en-US" sz="2400" dirty="0" err="1"/>
              <a:t>ou</a:t>
            </a:r>
            <a:r>
              <a:rPr lang="en-US" sz="2400" dirty="0"/>
              <a:t> SLA.</a:t>
            </a:r>
            <a:endParaRPr lang="en-BR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F64764E-2174-1FFA-0A59-EFCE945A1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N8N, Make, Zapier, 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Flowise</a:t>
            </a:r>
            <a:r>
              <a:rPr lang="en-US" dirty="0"/>
              <a:t> etc. </a:t>
            </a:r>
            <a:r>
              <a:rPr lang="en-US" dirty="0" err="1"/>
              <a:t>entram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declínio</a:t>
            </a:r>
            <a:r>
              <a:rPr lang="en-US" dirty="0"/>
              <a:t>.</a:t>
            </a:r>
          </a:p>
          <a:p>
            <a:r>
              <a:rPr lang="en-US" dirty="0" err="1"/>
              <a:t>Foram</a:t>
            </a:r>
            <a:r>
              <a:rPr lang="en-US" dirty="0"/>
              <a:t> </a:t>
            </a:r>
            <a:r>
              <a:rPr lang="en-US" dirty="0" err="1"/>
              <a:t>ótimas</a:t>
            </a:r>
            <a:r>
              <a:rPr lang="en-US" dirty="0"/>
              <a:t> para </a:t>
            </a:r>
            <a:r>
              <a:rPr lang="en-US" dirty="0" err="1"/>
              <a:t>protótipo</a:t>
            </a:r>
            <a:r>
              <a:rPr lang="en-US" dirty="0"/>
              <a:t>, mas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escalam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integram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têm</a:t>
            </a:r>
            <a:r>
              <a:rPr lang="en-US" dirty="0"/>
              <a:t> </a:t>
            </a:r>
            <a:r>
              <a:rPr lang="en-US" dirty="0" err="1"/>
              <a:t>governança</a:t>
            </a:r>
            <a:r>
              <a:rPr lang="en-US" dirty="0"/>
              <a:t>.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488107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549AA3A-10F4-6C28-F1B9-6A3E546AC21C}"/>
              </a:ext>
            </a:extLst>
          </p:cNvPr>
          <p:cNvGrpSpPr/>
          <p:nvPr/>
        </p:nvGrpSpPr>
        <p:grpSpPr>
          <a:xfrm>
            <a:off x="2973597" y="2506981"/>
            <a:ext cx="6244806" cy="1844038"/>
            <a:chOff x="1899137" y="1835332"/>
            <a:chExt cx="6244806" cy="1844038"/>
          </a:xfrm>
        </p:grpSpPr>
        <p:sp>
          <p:nvSpPr>
            <p:cNvPr id="2" name="Title 6">
              <a:extLst>
                <a:ext uri="{FF2B5EF4-FFF2-40B4-BE49-F238E27FC236}">
                  <a16:creationId xmlns:a16="http://schemas.microsoft.com/office/drawing/2014/main" id="{990B8483-C6C6-EDA8-435C-9A517FA917F3}"/>
                </a:ext>
              </a:extLst>
            </p:cNvPr>
            <p:cNvSpPr txBox="1">
              <a:spLocks/>
            </p:cNvSpPr>
            <p:nvPr/>
          </p:nvSpPr>
          <p:spPr>
            <a:xfrm>
              <a:off x="2626993" y="1835332"/>
              <a:ext cx="4512593" cy="621825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bg1"/>
                  </a:solidFill>
                  <a:latin typeface="Instrument Sans" pitchFamily="2" charset="0"/>
                  <a:ea typeface="+mj-ea"/>
                  <a:cs typeface="+mj-cs"/>
                </a:defRPr>
              </a:lvl1pPr>
            </a:lstStyle>
            <a:p>
              <a:pPr algn="ctr"/>
              <a:r>
                <a:rPr lang="en-BR" b="1"/>
                <a:t>O HYPE ACABA</a:t>
              </a:r>
              <a:endParaRPr lang="en-BR" b="1" dirty="0"/>
            </a:p>
          </p:txBody>
        </p:sp>
        <p:sp>
          <p:nvSpPr>
            <p:cNvPr id="3" name="Text Placeholder 9">
              <a:extLst>
                <a:ext uri="{FF2B5EF4-FFF2-40B4-BE49-F238E27FC236}">
                  <a16:creationId xmlns:a16="http://schemas.microsoft.com/office/drawing/2014/main" id="{F9462E9A-A729-B5FD-259F-1885D0E22F4B}"/>
                </a:ext>
              </a:extLst>
            </p:cNvPr>
            <p:cNvSpPr txBox="1">
              <a:spLocks/>
            </p:cNvSpPr>
            <p:nvPr/>
          </p:nvSpPr>
          <p:spPr>
            <a:xfrm>
              <a:off x="1899137" y="2457157"/>
              <a:ext cx="6244806" cy="12222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/>
                <a:t>O mercado agora exige produtos reais, não demos.</a:t>
              </a:r>
              <a:endParaRPr lang="en-BR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23199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CDB821C-252F-4080-E0F7-B0C7D08F1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7651919"/>
              </p:ext>
            </p:extLst>
          </p:nvPr>
        </p:nvGraphicFramePr>
        <p:xfrm>
          <a:off x="3048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6256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9466-30C4-C10B-97D7-A9D3B3DB3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black rectangles&#10;&#10;AI-generated content may be incorrect.">
            <a:extLst>
              <a:ext uri="{FF2B5EF4-FFF2-40B4-BE49-F238E27FC236}">
                <a16:creationId xmlns:a16="http://schemas.microsoft.com/office/drawing/2014/main" id="{4BA8E58A-E2C9-6396-0598-0A9628AE5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66896" y="0"/>
            <a:ext cx="6176427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0417D9-C221-C5EB-BA49-D8387104F321}"/>
              </a:ext>
            </a:extLst>
          </p:cNvPr>
          <p:cNvSpPr txBox="1">
            <a:spLocks/>
          </p:cNvSpPr>
          <p:nvPr/>
        </p:nvSpPr>
        <p:spPr>
          <a:xfrm>
            <a:off x="2929744" y="1645527"/>
            <a:ext cx="6332512" cy="8175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Instrument Sans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BR" b="1" dirty="0"/>
              <a:t>O DIFERENCIAL NÃO É O MODELO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236812-56AD-8635-35D9-9BB212C9E64B}"/>
              </a:ext>
            </a:extLst>
          </p:cNvPr>
          <p:cNvGrpSpPr/>
          <p:nvPr/>
        </p:nvGrpSpPr>
        <p:grpSpPr>
          <a:xfrm>
            <a:off x="1114721" y="2984413"/>
            <a:ext cx="9962558" cy="3128936"/>
            <a:chOff x="1193618" y="2692001"/>
            <a:chExt cx="9962558" cy="3128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B9CC09-5B27-FA72-FEC4-4742BEAA34A7}"/>
                </a:ext>
              </a:extLst>
            </p:cNvPr>
            <p:cNvSpPr/>
            <p:nvPr/>
          </p:nvSpPr>
          <p:spPr>
            <a:xfrm>
              <a:off x="1193620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DADOS PROPRIETÁRIOS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0D1E0F-1951-882D-61CC-330CE08673ED}"/>
                </a:ext>
              </a:extLst>
            </p:cNvPr>
            <p:cNvSpPr/>
            <p:nvPr/>
          </p:nvSpPr>
          <p:spPr>
            <a:xfrm>
              <a:off x="3834419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CONECTORES SEGUROS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474B1E-2961-68A1-8FB5-92D5D03CD3BE}"/>
                </a:ext>
              </a:extLst>
            </p:cNvPr>
            <p:cNvSpPr/>
            <p:nvPr/>
          </p:nvSpPr>
          <p:spPr>
            <a:xfrm>
              <a:off x="6475218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OBSERVABILIDADE</a:t>
              </a:r>
            </a:p>
          </p:txBody>
        </p:sp>
        <p:sp>
          <p:nvSpPr>
            <p:cNvPr id="2" name="Text Placeholder 9">
              <a:extLst>
                <a:ext uri="{FF2B5EF4-FFF2-40B4-BE49-F238E27FC236}">
                  <a16:creationId xmlns:a16="http://schemas.microsoft.com/office/drawing/2014/main" id="{EB3CBDEC-75C0-1D67-814C-439F287F77B4}"/>
                </a:ext>
              </a:extLst>
            </p:cNvPr>
            <p:cNvSpPr txBox="1">
              <a:spLocks/>
            </p:cNvSpPr>
            <p:nvPr/>
          </p:nvSpPr>
          <p:spPr>
            <a:xfrm>
              <a:off x="1193618" y="3472957"/>
              <a:ext cx="2040159" cy="234798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 err="1"/>
                <a:t>Nenhum</a:t>
              </a:r>
              <a:r>
                <a:rPr lang="en-US" sz="1200" dirty="0"/>
                <a:t> </a:t>
              </a:r>
              <a:r>
                <a:rPr lang="en-US" sz="1200" dirty="0" err="1"/>
                <a:t>concorrente</a:t>
              </a:r>
              <a:r>
                <a:rPr lang="en-US" sz="1200" dirty="0"/>
                <a:t> </a:t>
              </a:r>
              <a:r>
                <a:rPr lang="en-US" sz="1200" dirty="0" err="1"/>
                <a:t>ou</a:t>
              </a:r>
              <a:r>
                <a:rPr lang="en-US" sz="1200" dirty="0"/>
                <a:t> cloud </a:t>
              </a:r>
              <a:r>
                <a:rPr lang="en-US" sz="1200" dirty="0" err="1"/>
                <a:t>consegue</a:t>
              </a:r>
              <a:r>
                <a:rPr lang="en-US" sz="1200" dirty="0"/>
                <a:t> </a:t>
              </a:r>
              <a:r>
                <a:rPr lang="en-US" sz="1200" dirty="0" err="1"/>
                <a:t>replicar</a:t>
              </a:r>
              <a:r>
                <a:rPr lang="en-US" sz="1200" dirty="0"/>
                <a:t>.</a:t>
              </a:r>
              <a:br>
                <a:rPr lang="en-US" sz="1200" dirty="0"/>
              </a:br>
              <a:r>
                <a:rPr lang="en-US" sz="1200" dirty="0"/>
                <a:t>Define </a:t>
              </a:r>
              <a:r>
                <a:rPr lang="en-US" sz="1200" dirty="0" err="1"/>
                <a:t>qualidade</a:t>
              </a:r>
              <a:r>
                <a:rPr lang="en-US" sz="1200" dirty="0"/>
                <a:t>, </a:t>
              </a:r>
              <a:r>
                <a:rPr lang="en-US" sz="1200" dirty="0" err="1"/>
                <a:t>acurácia</a:t>
              </a:r>
              <a:r>
                <a:rPr lang="en-US" sz="1200" dirty="0"/>
                <a:t> e ROI da IA.</a:t>
              </a:r>
              <a:endParaRPr lang="en-BR" sz="1200" dirty="0"/>
            </a:p>
          </p:txBody>
        </p:sp>
        <p:sp>
          <p:nvSpPr>
            <p:cNvPr id="3" name="Text Placeholder 12">
              <a:extLst>
                <a:ext uri="{FF2B5EF4-FFF2-40B4-BE49-F238E27FC236}">
                  <a16:creationId xmlns:a16="http://schemas.microsoft.com/office/drawing/2014/main" id="{AE0E109F-86ED-C467-854C-8B6745C3B1CF}"/>
                </a:ext>
              </a:extLst>
            </p:cNvPr>
            <p:cNvSpPr txBox="1">
              <a:spLocks/>
            </p:cNvSpPr>
            <p:nvPr/>
          </p:nvSpPr>
          <p:spPr>
            <a:xfrm>
              <a:off x="3834418" y="3472957"/>
              <a:ext cx="2040159" cy="1542630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ERP, CRM, RH, </a:t>
              </a:r>
              <a:r>
                <a:rPr lang="en-US" sz="1200" dirty="0" err="1"/>
                <a:t>Financeiro</a:t>
              </a:r>
              <a:r>
                <a:rPr lang="en-US" sz="1200" dirty="0"/>
                <a:t>, Supply Chain, </a:t>
              </a:r>
              <a:r>
                <a:rPr lang="en-US" sz="1200" dirty="0" err="1"/>
                <a:t>sistemas</a:t>
              </a:r>
              <a:r>
                <a:rPr lang="en-US" sz="1200" dirty="0"/>
                <a:t> </a:t>
              </a:r>
              <a:r>
                <a:rPr lang="en-US" sz="1200" dirty="0" err="1"/>
                <a:t>legados</a:t>
              </a:r>
              <a:r>
                <a:rPr lang="en-US" sz="1200" dirty="0"/>
                <a:t>.</a:t>
              </a:r>
              <a:br>
                <a:rPr lang="en-US" sz="1200" dirty="0"/>
              </a:br>
              <a:r>
                <a:rPr lang="en-US" sz="1200" dirty="0" err="1"/>
                <a:t>Autenticação</a:t>
              </a:r>
              <a:r>
                <a:rPr lang="en-US" sz="1200" dirty="0"/>
                <a:t> </a:t>
              </a:r>
              <a:r>
                <a:rPr lang="en-US" sz="1200" dirty="0" err="1"/>
                <a:t>corporativa</a:t>
              </a:r>
              <a:r>
                <a:rPr lang="en-US" sz="1200" dirty="0"/>
                <a:t>, logging, </a:t>
              </a:r>
              <a:r>
                <a:rPr lang="en-US" sz="1200" dirty="0" err="1"/>
                <a:t>identidades</a:t>
              </a:r>
              <a:r>
                <a:rPr lang="en-US" sz="1200" dirty="0"/>
                <a:t>, </a:t>
              </a:r>
              <a:r>
                <a:rPr lang="en-US" sz="1200" dirty="0" err="1"/>
                <a:t>segregação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  <p:sp>
          <p:nvSpPr>
            <p:cNvPr id="7" name="Text Placeholder 13">
              <a:extLst>
                <a:ext uri="{FF2B5EF4-FFF2-40B4-BE49-F238E27FC236}">
                  <a16:creationId xmlns:a16="http://schemas.microsoft.com/office/drawing/2014/main" id="{793073EE-DCBD-CD1F-2735-23D377D7DC4C}"/>
                </a:ext>
              </a:extLst>
            </p:cNvPr>
            <p:cNvSpPr txBox="1">
              <a:spLocks/>
            </p:cNvSpPr>
            <p:nvPr/>
          </p:nvSpPr>
          <p:spPr>
            <a:xfrm>
              <a:off x="64752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Logs de </a:t>
              </a:r>
              <a:r>
                <a:rPr lang="en-US" sz="1200" dirty="0" err="1"/>
                <a:t>decisões</a:t>
              </a:r>
              <a:r>
                <a:rPr lang="en-US" sz="1200" dirty="0"/>
                <a:t>, </a:t>
              </a:r>
              <a:r>
                <a:rPr lang="en-US" sz="1200" dirty="0" err="1"/>
                <a:t>explicabilidade</a:t>
              </a:r>
              <a:r>
                <a:rPr lang="en-US" sz="1200" dirty="0"/>
                <a:t>, </a:t>
              </a:r>
              <a:r>
                <a:rPr lang="en-US" sz="1200" dirty="0" err="1"/>
                <a:t>métricas</a:t>
              </a:r>
              <a:r>
                <a:rPr lang="en-US" sz="1200" dirty="0"/>
                <a:t> de </a:t>
              </a:r>
              <a:r>
                <a:rPr lang="en-US" sz="1200" dirty="0" err="1"/>
                <a:t>acurácia</a:t>
              </a:r>
              <a:r>
                <a:rPr lang="en-US" sz="1200" dirty="0"/>
                <a:t>, </a:t>
              </a:r>
              <a:r>
                <a:rPr lang="en-US" sz="1200" dirty="0" err="1"/>
                <a:t>custo</a:t>
              </a:r>
              <a:r>
                <a:rPr lang="en-US" sz="1200" dirty="0"/>
                <a:t>, </a:t>
              </a:r>
              <a:r>
                <a:rPr lang="en-US" sz="1200" dirty="0" err="1"/>
                <a:t>falhas</a:t>
              </a:r>
              <a:r>
                <a:rPr lang="en-US" sz="1200" dirty="0"/>
                <a:t>.</a:t>
              </a:r>
              <a:br>
                <a:rPr lang="en-US" sz="1200" dirty="0"/>
              </a:br>
              <a:r>
                <a:rPr lang="en-US" sz="1200" dirty="0"/>
                <a:t>“Sem observability, a IA </a:t>
              </a:r>
              <a:r>
                <a:rPr lang="en-US" sz="1200" dirty="0" err="1"/>
                <a:t>é</a:t>
              </a:r>
              <a:r>
                <a:rPr lang="en-US" sz="1200" dirty="0"/>
                <a:t> </a:t>
              </a:r>
              <a:r>
                <a:rPr lang="en-US" sz="1200" dirty="0" err="1"/>
                <a:t>mágica</a:t>
              </a:r>
              <a:r>
                <a:rPr lang="en-US" sz="1200" dirty="0"/>
                <a:t>; com observability, </a:t>
              </a:r>
              <a:r>
                <a:rPr lang="en-US" sz="1200" dirty="0" err="1"/>
                <a:t>é</a:t>
              </a:r>
              <a:r>
                <a:rPr lang="en-US" sz="1200" dirty="0"/>
                <a:t> </a:t>
              </a:r>
              <a:r>
                <a:rPr lang="en-US" sz="1200" dirty="0" err="1"/>
                <a:t>engenharia</a:t>
              </a:r>
              <a:r>
                <a:rPr lang="en-US" sz="1200" dirty="0"/>
                <a:t>.”</a:t>
              </a:r>
              <a:endParaRPr lang="en-BR" sz="12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97356A7-B292-75C8-FFDF-3C95D78FDA46}"/>
                </a:ext>
              </a:extLst>
            </p:cNvPr>
            <p:cNvSpPr/>
            <p:nvPr/>
          </p:nvSpPr>
          <p:spPr>
            <a:xfrm>
              <a:off x="9116017" y="2692001"/>
              <a:ext cx="2040159" cy="523220"/>
            </a:xfrm>
            <a:prstGeom prst="rect">
              <a:avLst/>
            </a:prstGeom>
            <a:solidFill>
              <a:srgbClr val="774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R" sz="1000" dirty="0">
                  <a:latin typeface="DM Mono" panose="020B0509040201040103" pitchFamily="49" charset="77"/>
                </a:rPr>
                <a:t>GOVERNANÇA</a:t>
              </a:r>
            </a:p>
          </p:txBody>
        </p:sp>
        <p:sp>
          <p:nvSpPr>
            <p:cNvPr id="21" name="Text Placeholder 13">
              <a:extLst>
                <a:ext uri="{FF2B5EF4-FFF2-40B4-BE49-F238E27FC236}">
                  <a16:creationId xmlns:a16="http://schemas.microsoft.com/office/drawing/2014/main" id="{EC234928-C1A1-D984-F9D1-4D10193EC75E}"/>
                </a:ext>
              </a:extLst>
            </p:cNvPr>
            <p:cNvSpPr txBox="1">
              <a:spLocks/>
            </p:cNvSpPr>
            <p:nvPr/>
          </p:nvSpPr>
          <p:spPr>
            <a:xfrm>
              <a:off x="9116017" y="3440305"/>
              <a:ext cx="2040159" cy="1136668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50000"/>
                </a:lnSpc>
                <a:spcBef>
                  <a:spcPts val="500"/>
                </a:spcBef>
                <a:buFontTx/>
                <a:buNone/>
                <a:defRPr sz="2400" kern="1200">
                  <a:solidFill>
                    <a:schemeClr val="bg1"/>
                  </a:solidFill>
                  <a:latin typeface="Instrument Sans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Auditoria completa, </a:t>
              </a:r>
              <a:r>
                <a:rPr lang="en-US" sz="1200" dirty="0" err="1"/>
                <a:t>regras</a:t>
              </a:r>
              <a:r>
                <a:rPr lang="en-US" sz="1200" dirty="0"/>
                <a:t>, policies, compliance (LGPD, AI Act).</a:t>
              </a:r>
              <a:br>
                <a:rPr lang="en-US" sz="1200" dirty="0"/>
              </a:br>
              <a:r>
                <a:rPr lang="en-US" sz="1200" dirty="0"/>
                <a:t>Empresas </a:t>
              </a:r>
              <a:r>
                <a:rPr lang="en-US" sz="1200" dirty="0" err="1"/>
                <a:t>vencerão</a:t>
              </a:r>
              <a:r>
                <a:rPr lang="en-US" sz="1200" dirty="0"/>
                <a:t> </a:t>
              </a:r>
              <a:r>
                <a:rPr lang="en-US" sz="1200" dirty="0" err="1"/>
                <a:t>por</a:t>
              </a:r>
              <a:r>
                <a:rPr lang="en-US" sz="1200" dirty="0"/>
                <a:t> </a:t>
              </a:r>
              <a:r>
                <a:rPr lang="en-US" sz="1200" b="1" dirty="0" err="1"/>
                <a:t>provar</a:t>
              </a:r>
              <a:r>
                <a:rPr lang="en-US" sz="1200" dirty="0"/>
                <a:t> </a:t>
              </a:r>
              <a:r>
                <a:rPr lang="en-US" sz="1200" dirty="0" err="1"/>
                <a:t>que</a:t>
              </a:r>
              <a:r>
                <a:rPr lang="en-US" sz="1200" dirty="0"/>
                <a:t> o </a:t>
              </a:r>
              <a:r>
                <a:rPr lang="en-US" sz="1200" dirty="0" err="1"/>
                <a:t>agente</a:t>
              </a:r>
              <a:r>
                <a:rPr lang="en-US" sz="1200" dirty="0"/>
                <a:t> </a:t>
              </a:r>
              <a:r>
                <a:rPr lang="en-US" sz="1200" dirty="0" err="1"/>
                <a:t>não</a:t>
              </a:r>
              <a:r>
                <a:rPr lang="en-US" sz="1200" dirty="0"/>
                <a:t> </a:t>
              </a:r>
              <a:r>
                <a:rPr lang="en-US" sz="1200" dirty="0" err="1"/>
                <a:t>inventa</a:t>
              </a:r>
              <a:r>
                <a:rPr lang="en-US" sz="1200" dirty="0"/>
                <a:t>.</a:t>
              </a:r>
              <a:endParaRPr lang="en-BR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05620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6E76-DA35-DB51-CD5B-60FDCD9E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Diferencial VS Commodity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486901-8FF2-D143-7AF3-B63D84FC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Commodity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57E80-43DD-6A24-13D0-7B9F8939C4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/>
              <a:t>Vector DBs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/>
              <a:t>Embeddings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/>
              <a:t>Runtimes de </a:t>
            </a:r>
            <a:r>
              <a:rPr lang="en-US" sz="2000" dirty="0" err="1"/>
              <a:t>inferência</a:t>
            </a:r>
            <a:endParaRPr lang="en-US" sz="20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600" i="1" dirty="0" err="1"/>
              <a:t>Necessários</a:t>
            </a:r>
            <a:r>
              <a:rPr lang="en-US" sz="1600" i="1" dirty="0"/>
              <a:t>, mas </a:t>
            </a:r>
            <a:r>
              <a:rPr lang="en-US" sz="1600" i="1" dirty="0" err="1"/>
              <a:t>indiferenciados</a:t>
            </a:r>
            <a:endParaRPr lang="en-BR" sz="1600" dirty="0"/>
          </a:p>
          <a:p>
            <a:endParaRPr lang="en-BR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5BD71A-0A9D-DF53-686A-503DC9A7F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BR" dirty="0"/>
              <a:t>Diferencial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057F438-34C3-1021-2E14-C76B0141835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Dados </a:t>
            </a:r>
            <a:r>
              <a:rPr lang="en-US" sz="2000" dirty="0" err="1"/>
              <a:t>proprietários</a:t>
            </a:r>
            <a:endParaRPr lang="en-US" sz="2000" dirty="0"/>
          </a:p>
          <a:p>
            <a:pPr marL="342900" indent="-342900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000" dirty="0" err="1"/>
              <a:t>Conectores</a:t>
            </a:r>
            <a:r>
              <a:rPr lang="en-US" sz="2000" dirty="0"/>
              <a:t> </a:t>
            </a:r>
            <a:r>
              <a:rPr lang="en-US" sz="2000" dirty="0" err="1"/>
              <a:t>certificados</a:t>
            </a:r>
            <a:r>
              <a:rPr lang="en-US" sz="2000" dirty="0"/>
              <a:t> e </a:t>
            </a:r>
            <a:r>
              <a:rPr lang="en-US" sz="2000" dirty="0" err="1"/>
              <a:t>seguros</a:t>
            </a:r>
            <a:endParaRPr lang="en-US" sz="2000" dirty="0"/>
          </a:p>
          <a:p>
            <a:pPr marL="342900" indent="-342900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Observability cognitive</a:t>
            </a:r>
          </a:p>
          <a:p>
            <a:pPr marL="342900" indent="-342900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000" dirty="0" err="1"/>
              <a:t>Governança</a:t>
            </a:r>
            <a:r>
              <a:rPr lang="en-US" sz="2000" dirty="0"/>
              <a:t> de </a:t>
            </a:r>
            <a:r>
              <a:rPr lang="en-US" sz="2000" dirty="0" err="1"/>
              <a:t>agentes</a:t>
            </a:r>
            <a:endParaRPr lang="en-US" sz="2000" dirty="0"/>
          </a:p>
          <a:p>
            <a:pPr marL="800100" lvl="1" indent="-342900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AI Governance</a:t>
            </a:r>
          </a:p>
          <a:p>
            <a:endParaRPr lang="en-BR" dirty="0"/>
          </a:p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4042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FF2B5EF4-FFF2-40B4-BE49-F238E27FC236}">
                <a16:creationId xmlns:a16="http://schemas.microsoft.com/office/drawing/2014/main" id="{FEDAFD96-AF79-B131-4A11-1668CEDB2F8A}"/>
              </a:ext>
            </a:extLst>
          </p:cNvPr>
          <p:cNvSpPr txBox="1">
            <a:spLocks/>
          </p:cNvSpPr>
          <p:nvPr/>
        </p:nvSpPr>
        <p:spPr>
          <a:xfrm>
            <a:off x="2443983" y="2167500"/>
            <a:ext cx="7304035" cy="252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Instrument Sans" pitchFamily="2" charset="0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200" b="1" i="1"/>
              <a:t>O próximo unicórnio de IA não será quem tem o melhor modelo, mas quem prova que seus agentes operam com segurança, contexto e confiabilidade.</a:t>
            </a:r>
            <a:endParaRPr lang="en-BR" sz="6000" b="1" i="1" dirty="0"/>
          </a:p>
        </p:txBody>
      </p:sp>
    </p:spTree>
    <p:extLst>
      <p:ext uri="{BB962C8B-B14F-4D97-AF65-F5344CB8AC3E}">
        <p14:creationId xmlns:p14="http://schemas.microsoft.com/office/powerpoint/2010/main" val="3627641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2B0C-2E26-6FDF-3C73-7BC08A327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white cubes&#10;&#10;AI-generated content may be incorrect.">
            <a:extLst>
              <a:ext uri="{FF2B5EF4-FFF2-40B4-BE49-F238E27FC236}">
                <a16:creationId xmlns:a16="http://schemas.microsoft.com/office/drawing/2014/main" id="{54E95DAD-4563-115C-FF6C-70407333A4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6024014" y="0"/>
            <a:ext cx="6167986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D0D2C-DF09-124B-52B9-B98B6DED511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422900" y="4083050"/>
            <a:ext cx="6769100" cy="2387600"/>
          </a:xfrm>
        </p:spPr>
        <p:txBody>
          <a:bodyPr>
            <a:normAutofit/>
          </a:bodyPr>
          <a:lstStyle/>
          <a:p>
            <a:r>
              <a:rPr lang="en-BR" sz="6000" dirty="0"/>
              <a:t>E o novo mercado bilionário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BD094-6966-DEC4-4F04-2A56FA3DF7EC}"/>
              </a:ext>
            </a:extLst>
          </p:cNvPr>
          <p:cNvSpPr txBox="1"/>
          <p:nvPr/>
        </p:nvSpPr>
        <p:spPr>
          <a:xfrm>
            <a:off x="5560108" y="3835496"/>
            <a:ext cx="3752365" cy="495108"/>
          </a:xfrm>
          <a:prstGeom prst="rect">
            <a:avLst/>
          </a:prstGeom>
          <a:solidFill>
            <a:srgbClr val="6D47EF"/>
          </a:solidFill>
        </p:spPr>
        <p:txBody>
          <a:bodyPr wrap="none" lIns="288000" tIns="108000" rIns="288000" bIns="108000" rtlCol="0">
            <a:spAutoFit/>
          </a:bodyPr>
          <a:lstStyle/>
          <a:p>
            <a:r>
              <a:rPr lang="en-BR" dirty="0">
                <a:solidFill>
                  <a:schemeClr val="bg1"/>
                </a:solidFill>
                <a:latin typeface="DM Mono" panose="020B0509040201040103" pitchFamily="49" charset="77"/>
              </a:rPr>
              <a:t>INTELIGÊNCIA ARTIFICIAL</a:t>
            </a:r>
          </a:p>
        </p:txBody>
      </p:sp>
      <p:pic>
        <p:nvPicPr>
          <p:cNvPr id="4" name="Picture Placeholder 17" descr="A person in a suit with his arms crossed&#10;&#10;AI-generated content may be incorrect.">
            <a:extLst>
              <a:ext uri="{FF2B5EF4-FFF2-40B4-BE49-F238E27FC236}">
                <a16:creationId xmlns:a16="http://schemas.microsoft.com/office/drawing/2014/main" id="{97831287-D890-58CB-FC1A-BA9BC46BD7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82" t="2041" r="12126" b="12049"/>
          <a:stretch>
            <a:fillRect/>
          </a:stretch>
        </p:blipFill>
        <p:spPr>
          <a:xfrm>
            <a:off x="-1" y="0"/>
            <a:ext cx="4495801" cy="50228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22A554-A35C-F645-19E4-8CDAF307C4CE}"/>
              </a:ext>
            </a:extLst>
          </p:cNvPr>
          <p:cNvSpPr/>
          <p:nvPr/>
        </p:nvSpPr>
        <p:spPr>
          <a:xfrm>
            <a:off x="-1" y="5022850"/>
            <a:ext cx="4495801" cy="1835150"/>
          </a:xfrm>
          <a:prstGeom prst="rect">
            <a:avLst/>
          </a:prstGeom>
          <a:solidFill>
            <a:srgbClr val="6D47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BD2BEFD-1C9E-D5F6-F966-4C2F008E15AA}"/>
              </a:ext>
            </a:extLst>
          </p:cNvPr>
          <p:cNvSpPr txBox="1">
            <a:spLocks/>
          </p:cNvSpPr>
          <p:nvPr/>
        </p:nvSpPr>
        <p:spPr>
          <a:xfrm>
            <a:off x="225424" y="5276850"/>
            <a:ext cx="4156075" cy="946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Instrument Sans" pitchFamily="2" charset="0"/>
                <a:ea typeface="+mj-ea"/>
                <a:cs typeface="+mj-cs"/>
              </a:defRPr>
            </a:lvl1pPr>
          </a:lstStyle>
          <a:p>
            <a:r>
              <a:rPr lang="en-BR" sz="2400" b="1" dirty="0"/>
              <a:t>André </a:t>
            </a:r>
            <a:r>
              <a:rPr lang="en-BR" sz="2400" b="1" dirty="0">
                <a:solidFill>
                  <a:schemeClr val="bg1">
                    <a:alpha val="70000"/>
                  </a:schemeClr>
                </a:solidFill>
              </a:rPr>
              <a:t>Baltieri</a:t>
            </a:r>
          </a:p>
          <a:p>
            <a:pPr>
              <a:lnSpc>
                <a:spcPct val="100000"/>
              </a:lnSpc>
            </a:pPr>
            <a:r>
              <a:rPr lang="en-BR" sz="1400" dirty="0"/>
              <a:t>13x Microsoft MVP</a:t>
            </a:r>
          </a:p>
          <a:p>
            <a:pPr>
              <a:lnSpc>
                <a:spcPct val="100000"/>
              </a:lnSpc>
            </a:pPr>
            <a:r>
              <a:rPr lang="en-BR" sz="1400" dirty="0"/>
              <a:t>@andrebaltieri</a:t>
            </a:r>
            <a:endParaRPr lang="en-BR" sz="4000" dirty="0"/>
          </a:p>
        </p:txBody>
      </p:sp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59F7C83-4036-5EAA-0152-0962A71D0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108" y="454025"/>
            <a:ext cx="3175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99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B98A2-4D75-B9A5-F7A4-AF79C1C3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urple cubes&#10;&#10;AI-generated content may be incorrect.">
            <a:extLst>
              <a:ext uri="{FF2B5EF4-FFF2-40B4-BE49-F238E27FC236}">
                <a16:creationId xmlns:a16="http://schemas.microsoft.com/office/drawing/2014/main" id="{19FD05AF-CD3C-6318-D013-FDED8076E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176427" cy="6858000"/>
          </a:xfrm>
          <a:prstGeom prst="rect">
            <a:avLst/>
          </a:prstGeom>
        </p:spPr>
      </p:pic>
      <p:pic>
        <p:nvPicPr>
          <p:cNvPr id="9" name="Picture 8" descr="A white and black logo&#10;&#10;AI-generated content may be incorrect.">
            <a:extLst>
              <a:ext uri="{FF2B5EF4-FFF2-40B4-BE49-F238E27FC236}">
                <a16:creationId xmlns:a16="http://schemas.microsoft.com/office/drawing/2014/main" id="{316715D4-002D-F55C-C8D1-D1F13BCC4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984" y="4451875"/>
            <a:ext cx="1335447" cy="2473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685874-91A8-AA60-16AA-3B65B5B77691}"/>
              </a:ext>
            </a:extLst>
          </p:cNvPr>
          <p:cNvSpPr/>
          <p:nvPr/>
        </p:nvSpPr>
        <p:spPr>
          <a:xfrm>
            <a:off x="902128" y="4880449"/>
            <a:ext cx="8178810" cy="70788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Instrument Sans" pitchFamily="2" charset="0"/>
              </a:rPr>
              <a:t>Muito</a:t>
            </a:r>
            <a:r>
              <a:rPr lang="en-US" sz="4000" dirty="0">
                <a:solidFill>
                  <a:schemeClr val="bg1"/>
                </a:solidFill>
                <a:latin typeface="Instrument Sans" pitchFamily="2" charset="0"/>
              </a:rPr>
              <a:t> </a:t>
            </a:r>
            <a:r>
              <a:rPr lang="en-US" sz="4000" dirty="0" err="1">
                <a:solidFill>
                  <a:schemeClr val="bg1">
                    <a:alpha val="70000"/>
                  </a:schemeClr>
                </a:solidFill>
                <a:latin typeface="Instrument Sans" pitchFamily="2" charset="0"/>
              </a:rPr>
              <a:t>obrigado</a:t>
            </a:r>
            <a:r>
              <a:rPr lang="en-US" sz="4000" dirty="0">
                <a:solidFill>
                  <a:schemeClr val="bg1"/>
                </a:solidFill>
                <a:latin typeface="Instrument Sans" pitchFamily="2" charset="0"/>
              </a:rPr>
              <a:t>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D172756-2BC5-1317-84C1-536AEFCF1AC4}"/>
              </a:ext>
            </a:extLst>
          </p:cNvPr>
          <p:cNvSpPr/>
          <p:nvPr/>
        </p:nvSpPr>
        <p:spPr>
          <a:xfrm>
            <a:off x="1033984" y="756745"/>
            <a:ext cx="2112579" cy="2112579"/>
          </a:xfrm>
          <a:prstGeom prst="ellipse">
            <a:avLst/>
          </a:prstGeom>
          <a:blipFill>
            <a:blip r:embed="rId4"/>
            <a:stretch>
              <a:fillRect l="-6234" r="-6234"/>
            </a:stretch>
          </a:blipFill>
          <a:ln w="28575">
            <a:solidFill>
              <a:srgbClr val="774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F3322B-5230-6FC6-F34F-60957F55717D}"/>
              </a:ext>
            </a:extLst>
          </p:cNvPr>
          <p:cNvSpPr/>
          <p:nvPr/>
        </p:nvSpPr>
        <p:spPr>
          <a:xfrm>
            <a:off x="3367901" y="1274425"/>
            <a:ext cx="4650683" cy="10772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Instrument Sans" pitchFamily="2" charset="0"/>
              </a:rPr>
              <a:t>André </a:t>
            </a:r>
            <a:r>
              <a:rPr lang="en-US" sz="3200" dirty="0">
                <a:solidFill>
                  <a:schemeClr val="bg1">
                    <a:alpha val="70000"/>
                  </a:schemeClr>
                </a:solidFill>
                <a:latin typeface="Instrument Sans" pitchFamily="2" charset="0"/>
              </a:rPr>
              <a:t>Baltieri</a:t>
            </a:r>
            <a:endParaRPr lang="en-US" sz="3200" dirty="0">
              <a:solidFill>
                <a:schemeClr val="bg1"/>
              </a:solidFill>
              <a:latin typeface="Instrument Sans" pitchFamily="2" charset="0"/>
            </a:endParaRPr>
          </a:p>
          <a:p>
            <a:r>
              <a:rPr lang="en-US" sz="1600" dirty="0">
                <a:solidFill>
                  <a:schemeClr val="bg1">
                    <a:alpha val="70000"/>
                  </a:schemeClr>
                </a:solidFill>
                <a:latin typeface="Instrument Sans" pitchFamily="2" charset="0"/>
              </a:rPr>
              <a:t>13x Microsoft MVP</a:t>
            </a:r>
          </a:p>
          <a:p>
            <a:r>
              <a:rPr lang="en-US" sz="1600" dirty="0">
                <a:solidFill>
                  <a:schemeClr val="bg1">
                    <a:alpha val="70000"/>
                  </a:schemeClr>
                </a:solidFill>
                <a:latin typeface="Instrument Sans" pitchFamily="2" charset="0"/>
              </a:rPr>
              <a:t>CEO – </a:t>
            </a:r>
            <a:r>
              <a:rPr lang="en-US" sz="1600" dirty="0" err="1">
                <a:solidFill>
                  <a:schemeClr val="bg1">
                    <a:alpha val="70000"/>
                  </a:schemeClr>
                </a:solidFill>
                <a:latin typeface="Instrument Sans" pitchFamily="2" charset="0"/>
              </a:rPr>
              <a:t>balta.io</a:t>
            </a:r>
            <a:endParaRPr lang="en-US" sz="1600" dirty="0">
              <a:solidFill>
                <a:schemeClr val="bg1">
                  <a:alpha val="70000"/>
                </a:schemeClr>
              </a:solidFill>
              <a:latin typeface="Instrument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9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1224</Words>
  <Application>Microsoft Macintosh PowerPoint</Application>
  <PresentationFormat>Widescreen</PresentationFormat>
  <Paragraphs>215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Arial</vt:lpstr>
      <vt:lpstr>Courier New</vt:lpstr>
      <vt:lpstr>DM Mono</vt:lpstr>
      <vt:lpstr>Instrument Sans</vt:lpstr>
      <vt:lpstr>Office Theme</vt:lpstr>
      <vt:lpstr>E o novo mercado bilionário</vt:lpstr>
      <vt:lpstr>Panorama geral da IA</vt:lpstr>
      <vt:lpstr>PowerPoint Presentation</vt:lpstr>
      <vt:lpstr>U$ 120 BI focados em IA</vt:lpstr>
      <vt:lpstr>R$ 13 BI aqui no Brasil</vt:lpstr>
      <vt:lpstr>Cenário nacional</vt:lpstr>
      <vt:lpstr>PowerPoint Presentation</vt:lpstr>
      <vt:lpstr>Estado atual da IA</vt:lpstr>
      <vt:lpstr>Agents</vt:lpstr>
      <vt:lpstr>Agents</vt:lpstr>
      <vt:lpstr>PowerPoint Presentation</vt:lpstr>
      <vt:lpstr>O futuro da IA</vt:lpstr>
      <vt:lpstr>Plataforma Corporativa</vt:lpstr>
      <vt:lpstr>PowerPoint Presentation</vt:lpstr>
      <vt:lpstr>Fusão Cloud + IA</vt:lpstr>
      <vt:lpstr>PowerPoint Presentation</vt:lpstr>
      <vt:lpstr>Economia Cognitiva</vt:lpstr>
      <vt:lpstr>Onde o capital vai fluir?</vt:lpstr>
      <vt:lpstr>Fluxo de Investimentos Global</vt:lpstr>
      <vt:lpstr>Fluxo de Investimentos Global</vt:lpstr>
      <vt:lpstr>PowerPoint Presentation</vt:lpstr>
      <vt:lpstr>PowerPoint Presentation</vt:lpstr>
      <vt:lpstr>PowerPoint Presentation</vt:lpstr>
      <vt:lpstr>O que fica e o que sai?</vt:lpstr>
      <vt:lpstr>Fim da era “toy”</vt:lpstr>
      <vt:lpstr>PowerPoint Presentation</vt:lpstr>
      <vt:lpstr>PowerPoint Presentation</vt:lpstr>
      <vt:lpstr>PowerPoint Presentation</vt:lpstr>
      <vt:lpstr>Diferencial VS Commodity</vt:lpstr>
      <vt:lpstr>PowerPoint Presentation</vt:lpstr>
      <vt:lpstr>E o novo mercado bilionário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Baltieri</dc:creator>
  <cp:lastModifiedBy>André Baltieri</cp:lastModifiedBy>
  <cp:revision>8</cp:revision>
  <dcterms:created xsi:type="dcterms:W3CDTF">2025-11-28T16:45:46Z</dcterms:created>
  <dcterms:modified xsi:type="dcterms:W3CDTF">2025-12-05T13:36:27Z</dcterms:modified>
</cp:coreProperties>
</file>